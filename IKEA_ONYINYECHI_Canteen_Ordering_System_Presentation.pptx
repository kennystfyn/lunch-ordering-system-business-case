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74" r:id="rId7"/>
    <p:sldId id="261" r:id="rId8"/>
    <p:sldId id="262" r:id="rId9"/>
    <p:sldId id="263" r:id="rId10"/>
    <p:sldId id="264" r:id="rId11"/>
    <p:sldId id="265" r:id="rId12"/>
    <p:sldId id="266" r:id="rId13"/>
    <p:sldId id="267" r:id="rId14"/>
    <p:sldId id="268" r:id="rId15"/>
    <p:sldId id="269" r:id="rId16"/>
    <p:sldId id="270" r:id="rId17"/>
    <p:sldId id="271" r:id="rId18"/>
    <p:sldId id="272"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nyinyechi Ikea" userId="ed06fc34584438c6" providerId="LiveId" clId="{1CC543A5-4EA8-4C41-B73E-E23A53C6D214}"/>
    <pc:docChg chg="modSld">
      <pc:chgData name="Onyinyechi Ikea" userId="ed06fc34584438c6" providerId="LiveId" clId="{1CC543A5-4EA8-4C41-B73E-E23A53C6D214}" dt="2026-10-21T18:34:45.704" v="41" actId="20577"/>
      <pc:docMkLst>
        <pc:docMk/>
      </pc:docMkLst>
      <pc:sldChg chg="modSp mod">
        <pc:chgData name="Onyinyechi Ikea" userId="ed06fc34584438c6" providerId="LiveId" clId="{1CC543A5-4EA8-4C41-B73E-E23A53C6D214}" dt="2026-10-21T18:34:45.704" v="41" actId="20577"/>
        <pc:sldMkLst>
          <pc:docMk/>
          <pc:sldMk cId="0" sldId="256"/>
        </pc:sldMkLst>
        <pc:spChg chg="mod">
          <ac:chgData name="Onyinyechi Ikea" userId="ed06fc34584438c6" providerId="LiveId" clId="{1CC543A5-4EA8-4C41-B73E-E23A53C6D214}" dt="2026-10-21T18:34:45.704" v="41" actId="20577"/>
          <ac:spMkLst>
            <pc:docMk/>
            <pc:sldMk cId="0" sldId="256"/>
            <ac:spMk id="11"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Cost (£)</c:v>
                </c:pt>
              </c:strCache>
            </c:strRef>
          </c:tx>
          <c:spPr>
            <a:solidFill>
              <a:srgbClr val="E8A33D"/>
            </a:solidFill>
            <a:effectLst/>
          </c:spPr>
          <c:invertIfNegative val="0"/>
          <c:dLbls>
            <c:numFmt formatCode="#,##0" sourceLinked="0"/>
            <c:spPr>
              <a:noFill/>
              <a:ln>
                <a:noFill/>
              </a:ln>
              <a:effectLst/>
            </c:spPr>
            <c:txPr>
              <a:bodyPr/>
              <a:lstStyle/>
              <a:p>
                <a:pPr>
                  <a:defRPr sz="900" b="0" i="0" u="none" strike="noStrike">
                    <a:solidFill>
                      <a:srgbClr val="FFFFFF"/>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Dev</c:v>
                </c:pt>
                <c:pt idx="1">
                  <c:v>Test &amp; Deploy</c:v>
                </c:pt>
                <c:pt idx="2">
                  <c:v>Payroll Integ.</c:v>
                </c:pt>
                <c:pt idx="3">
                  <c:v>Training</c:v>
                </c:pt>
                <c:pt idx="4">
                  <c:v>Support</c:v>
                </c:pt>
                <c:pt idx="5">
                  <c:v>Contingency</c:v>
                </c:pt>
              </c:strCache>
            </c:strRef>
          </c:cat>
          <c:val>
            <c:numRef>
              <c:f>Sheet1!$B$2:$B$7</c:f>
              <c:numCache>
                <c:formatCode>General</c:formatCode>
                <c:ptCount val="6"/>
                <c:pt idx="0">
                  <c:v>60000</c:v>
                </c:pt>
                <c:pt idx="1">
                  <c:v>15000</c:v>
                </c:pt>
                <c:pt idx="2">
                  <c:v>20000</c:v>
                </c:pt>
                <c:pt idx="3">
                  <c:v>10000</c:v>
                </c:pt>
                <c:pt idx="4">
                  <c:v>20000</c:v>
                </c:pt>
                <c:pt idx="5">
                  <c:v>15000</c:v>
                </c:pt>
              </c:numCache>
            </c:numRef>
          </c:val>
          <c:extLst>
            <c:ext xmlns:c16="http://schemas.microsoft.com/office/drawing/2014/chart" uri="{C3380CC4-5D6E-409C-BE32-E72D297353CC}">
              <c16:uniqueId val="{00000000-BB2C-4C8C-BB4C-3BD58F23827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CADCFC"/>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34407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CADCFC"/>
                </a:solidFill>
                <a:latin typeface="Arial"/>
              </a:defRPr>
            </a:pPr>
            <a:endParaRPr lang="en-US"/>
          </a:p>
        </c:txPr>
        <c:crossAx val="2094734554"/>
        <c:crosses val="autoZero"/>
        <c:crossBetween val="between"/>
      </c:valAx>
      <c:spPr>
        <a:solidFill>
          <a:srgbClr val="1E2761">
            <a:alpha val="0"/>
          </a:srgbClr>
        </a:solidFill>
        <a:ln>
          <a:noFill/>
        </a:ln>
        <a:effectLst/>
      </c:spPr>
    </c:plotArea>
    <c:plotVisOnly val="1"/>
    <c:dispBlanksAs val="span"/>
    <c:showDLblsOverMax val="1"/>
  </c:chart>
  <c:spPr>
    <a:solidFill>
      <a:srgbClr val="1E2761">
        <a:alpha val="0"/>
      </a:srgbClr>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pieChart>
        <c:varyColors val="1"/>
        <c:ser>
          <c:idx val="0"/>
          <c:order val="0"/>
          <c:tx>
            <c:strRef>
              <c:f>Sheet1!$B$1</c:f>
              <c:strCache>
                <c:ptCount val="1"/>
                <c:pt idx="0">
                  <c:v>Benefit</c:v>
                </c:pt>
              </c:strCache>
            </c:strRef>
          </c:tx>
          <c:spPr>
            <a:solidFill>
              <a:schemeClr val="accent1"/>
            </a:solidFill>
            <a:ln w="9525" cap="flat">
              <a:solidFill>
                <a:srgbClr val="F9F9F9"/>
              </a:solidFill>
              <a:prstDash val="solid"/>
              <a:round/>
            </a:ln>
            <a:effectLst/>
          </c:spPr>
          <c:dPt>
            <c:idx val="0"/>
            <c:bubble3D val="0"/>
            <c:spPr>
              <a:solidFill>
                <a:srgbClr val="E8A33D"/>
              </a:solidFill>
              <a:effectLst/>
            </c:spPr>
            <c:extLst>
              <c:ext xmlns:c16="http://schemas.microsoft.com/office/drawing/2014/chart" uri="{C3380CC4-5D6E-409C-BE32-E72D297353CC}">
                <c16:uniqueId val="{00000001-8F13-41AE-ABB8-558ACED63E47}"/>
              </c:ext>
            </c:extLst>
          </c:dPt>
          <c:dPt>
            <c:idx val="1"/>
            <c:bubble3D val="0"/>
            <c:spPr>
              <a:solidFill>
                <a:srgbClr val="CADCFC"/>
              </a:solidFill>
              <a:effectLst/>
            </c:spPr>
            <c:extLst>
              <c:ext xmlns:c16="http://schemas.microsoft.com/office/drawing/2014/chart" uri="{C3380CC4-5D6E-409C-BE32-E72D297353CC}">
                <c16:uniqueId val="{00000003-8F13-41AE-ABB8-558ACED63E47}"/>
              </c:ext>
            </c:extLst>
          </c:dPt>
          <c:dLbls>
            <c:dLbl>
              <c:idx val="0"/>
              <c:numFmt formatCode="0%" sourceLinked="0"/>
              <c:spPr/>
              <c:txPr>
                <a:bodyPr/>
                <a:lstStyle/>
                <a:p>
                  <a:pPr>
                    <a:defRPr sz="1000" b="1" i="0" u="none" strike="noStrike">
                      <a:solidFill>
                        <a:srgbClr val="141B47"/>
                      </a:solidFill>
                      <a:latin typeface="Arial"/>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8F13-41AE-ABB8-558ACED63E47}"/>
                </c:ext>
              </c:extLst>
            </c:dLbl>
            <c:dLbl>
              <c:idx val="1"/>
              <c:numFmt formatCode="0%" sourceLinked="0"/>
              <c:spPr/>
              <c:txPr>
                <a:bodyPr/>
                <a:lstStyle/>
                <a:p>
                  <a:pPr>
                    <a:defRPr sz="1000" b="1" i="0" u="none" strike="noStrike">
                      <a:solidFill>
                        <a:srgbClr val="141B47"/>
                      </a:solidFill>
                      <a:latin typeface="Arial"/>
                    </a:defRPr>
                  </a:pPr>
                  <a:endParaRPr lang="en-US"/>
                </a:p>
              </c:txPr>
              <c:dLblPos val="outEnd"/>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8F13-41AE-ABB8-558ACED63E47}"/>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dLblPos val="ct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Productivity Saving (£1.65M)</c:v>
                </c:pt>
                <c:pt idx="1">
                  <c:v>Food Waste Reduction (£0.03M)</c:v>
                </c:pt>
              </c:strCache>
            </c:strRef>
          </c:cat>
          <c:val>
            <c:numRef>
              <c:f>Sheet1!$B$2:$B$3</c:f>
              <c:numCache>
                <c:formatCode>General</c:formatCode>
                <c:ptCount val="2"/>
                <c:pt idx="0">
                  <c:v>1650000</c:v>
                </c:pt>
                <c:pt idx="1">
                  <c:v>30000</c:v>
                </c:pt>
              </c:numCache>
            </c:numRef>
          </c:val>
          <c:extLst>
            <c:ext xmlns:c16="http://schemas.microsoft.com/office/drawing/2014/chart" uri="{C3380CC4-5D6E-409C-BE32-E72D297353CC}">
              <c16:uniqueId val="{00000004-8F13-41AE-ABB8-558ACED63E47}"/>
            </c:ext>
          </c:extLst>
        </c:ser>
        <c:dLbls>
          <c:showLegendKey val="0"/>
          <c:showVal val="0"/>
          <c:showCatName val="0"/>
          <c:showSerName val="0"/>
          <c:showPercent val="0"/>
          <c:showBubbleSize val="0"/>
          <c:showLeaderLines val="0"/>
        </c:dLbls>
        <c:firstSliceAng val="0"/>
      </c:pieChart>
      <c:spPr>
        <a:noFill/>
        <a:ln>
          <a:noFill/>
        </a:ln>
        <a:effectLst/>
      </c:spPr>
    </c:plotArea>
    <c:legend>
      <c:legendPos val="b"/>
      <c:overlay val="0"/>
      <c:txPr>
        <a:bodyPr/>
        <a:lstStyle/>
        <a:p>
          <a:pPr>
            <a:defRPr sz="1000">
              <a:solidFill>
                <a:srgbClr val="FFFFFF"/>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431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AFCD9-BAF3-9038-5E67-47AC04C03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062408-0011-19CC-0EFC-5C7893C7FE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C026DF-E861-4D6C-DB61-D1C46CFC0F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69A93F2-E06D-5C03-8556-CD8FAB9EA8D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544241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8869680" y="-2103120"/>
            <a:ext cx="6400800" cy="6400800"/>
          </a:xfrm>
          <a:prstGeom prst="ellipse">
            <a:avLst/>
          </a:prstGeom>
          <a:solidFill>
            <a:srgbClr val="141B47">
              <a:alpha val="60000"/>
            </a:srgbClr>
          </a:solidFill>
          <a:ln/>
        </p:spPr>
        <p:txBody>
          <a:bodyPr/>
          <a:lstStyle/>
          <a:p>
            <a:endParaRPr lang="en-US"/>
          </a:p>
        </p:txBody>
      </p:sp>
      <p:sp>
        <p:nvSpPr>
          <p:cNvPr id="3" name="Shape 1"/>
          <p:cNvSpPr/>
          <p:nvPr/>
        </p:nvSpPr>
        <p:spPr>
          <a:xfrm>
            <a:off x="10332720" y="3931920"/>
            <a:ext cx="4114800" cy="4114800"/>
          </a:xfrm>
          <a:prstGeom prst="ellipse">
            <a:avLst/>
          </a:prstGeom>
          <a:solidFill>
            <a:srgbClr val="E8A33D">
              <a:alpha val="15000"/>
            </a:srgbClr>
          </a:solidFill>
          <a:ln/>
        </p:spPr>
        <p:txBody>
          <a:bodyPr/>
          <a:lstStyle/>
          <a:p>
            <a:endParaRPr lang="en-US"/>
          </a:p>
        </p:txBody>
      </p:sp>
      <p:sp>
        <p:nvSpPr>
          <p:cNvPr id="4" name="Text 2"/>
          <p:cNvSpPr/>
          <p:nvPr/>
        </p:nvSpPr>
        <p:spPr>
          <a:xfrm>
            <a:off x="731520" y="1417320"/>
            <a:ext cx="8229600" cy="365760"/>
          </a:xfrm>
          <a:prstGeom prst="rect">
            <a:avLst/>
          </a:prstGeom>
          <a:noFill/>
          <a:ln/>
        </p:spPr>
        <p:txBody>
          <a:bodyPr wrap="square" rtlCol="0" anchor="ctr"/>
          <a:lstStyle/>
          <a:p>
            <a:pPr marL="0" indent="0">
              <a:buNone/>
            </a:pPr>
            <a:r>
              <a:rPr lang="en-US" sz="1300" b="1" kern="0" spc="200" dirty="0">
                <a:solidFill>
                  <a:srgbClr val="E8A33D"/>
                </a:solidFill>
                <a:latin typeface="Calibri" pitchFamily="34" charset="0"/>
                <a:ea typeface="Calibri" pitchFamily="34" charset="-122"/>
                <a:cs typeface="Calibri" pitchFamily="34" charset="-120"/>
              </a:rPr>
              <a:t>BUSINESS ANALYSIS CAPSTONE PROJECT</a:t>
            </a:r>
            <a:endParaRPr lang="en-US" sz="1300" dirty="0"/>
          </a:p>
        </p:txBody>
      </p:sp>
      <p:sp>
        <p:nvSpPr>
          <p:cNvPr id="5" name="Text 3"/>
          <p:cNvSpPr/>
          <p:nvPr/>
        </p:nvSpPr>
        <p:spPr>
          <a:xfrm>
            <a:off x="731520" y="1874520"/>
            <a:ext cx="10058400" cy="1188720"/>
          </a:xfrm>
          <a:prstGeom prst="rect">
            <a:avLst/>
          </a:prstGeom>
          <a:noFill/>
          <a:ln/>
        </p:spPr>
        <p:txBody>
          <a:bodyPr wrap="square"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Canteen Ordering System</a:t>
            </a:r>
            <a:endParaRPr lang="en-US" sz="4600" dirty="0"/>
          </a:p>
        </p:txBody>
      </p:sp>
      <p:sp>
        <p:nvSpPr>
          <p:cNvPr id="6" name="Text 4"/>
          <p:cNvSpPr/>
          <p:nvPr/>
        </p:nvSpPr>
        <p:spPr>
          <a:xfrm>
            <a:off x="731520" y="2880360"/>
            <a:ext cx="9601200" cy="548640"/>
          </a:xfrm>
          <a:prstGeom prst="rect">
            <a:avLst/>
          </a:prstGeom>
          <a:noFill/>
          <a:ln/>
        </p:spPr>
        <p:txBody>
          <a:bodyPr wrap="square" rtlCol="0" anchor="ctr"/>
          <a:lstStyle/>
          <a:p>
            <a:pPr marL="0" indent="0">
              <a:buNone/>
            </a:pPr>
            <a:r>
              <a:rPr lang="en-US" sz="1400" i="1" dirty="0">
                <a:solidFill>
                  <a:srgbClr val="CADCFC"/>
                </a:solidFill>
                <a:latin typeface="Calibri" pitchFamily="34" charset="0"/>
                <a:ea typeface="Calibri" pitchFamily="34" charset="-122"/>
                <a:cs typeface="Calibri" pitchFamily="34" charset="-120"/>
              </a:rPr>
              <a:t>Reimagining the Unilever UK Lunch Experience</a:t>
            </a:r>
            <a:endParaRPr lang="en-US" sz="1400" dirty="0"/>
          </a:p>
        </p:txBody>
      </p:sp>
      <p:sp>
        <p:nvSpPr>
          <p:cNvPr id="7" name="Shape 5"/>
          <p:cNvSpPr/>
          <p:nvPr/>
        </p:nvSpPr>
        <p:spPr>
          <a:xfrm>
            <a:off x="749808" y="3611880"/>
            <a:ext cx="2194560" cy="0"/>
          </a:xfrm>
          <a:prstGeom prst="line">
            <a:avLst/>
          </a:prstGeom>
          <a:noFill/>
          <a:ln w="28575">
            <a:solidFill>
              <a:srgbClr val="E8A33D"/>
            </a:solidFill>
            <a:prstDash val="solid"/>
          </a:ln>
        </p:spPr>
        <p:txBody>
          <a:bodyPr/>
          <a:lstStyle/>
          <a:p>
            <a:endParaRPr lang="en-US"/>
          </a:p>
        </p:txBody>
      </p:sp>
      <p:sp>
        <p:nvSpPr>
          <p:cNvPr id="8" name="Text 6"/>
          <p:cNvSpPr/>
          <p:nvPr/>
        </p:nvSpPr>
        <p:spPr>
          <a:xfrm>
            <a:off x="749808" y="3977640"/>
            <a:ext cx="3291840" cy="274320"/>
          </a:xfrm>
          <a:prstGeom prst="rect">
            <a:avLst/>
          </a:prstGeom>
          <a:noFill/>
          <a:ln/>
        </p:spPr>
        <p:txBody>
          <a:bodyPr wrap="square" rtlCol="0" anchor="ctr"/>
          <a:lstStyle/>
          <a:p>
            <a:pPr marL="0" indent="0">
              <a:buNone/>
            </a:pPr>
            <a:r>
              <a:rPr lang="en-US" sz="1400" b="1" kern="0" spc="120" dirty="0">
                <a:solidFill>
                  <a:srgbClr val="E8A33D"/>
                </a:solidFill>
                <a:latin typeface="Calibri" pitchFamily="34" charset="0"/>
                <a:ea typeface="Calibri" pitchFamily="34" charset="-122"/>
                <a:cs typeface="Calibri" pitchFamily="34" charset="-120"/>
              </a:rPr>
              <a:t>COMPANY</a:t>
            </a:r>
            <a:endParaRPr lang="en-US" sz="1400" dirty="0"/>
          </a:p>
        </p:txBody>
      </p:sp>
      <p:sp>
        <p:nvSpPr>
          <p:cNvPr id="9" name="Text 7"/>
          <p:cNvSpPr/>
          <p:nvPr/>
        </p:nvSpPr>
        <p:spPr>
          <a:xfrm>
            <a:off x="749808" y="4251960"/>
            <a:ext cx="329184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Unilever UK Office</a:t>
            </a:r>
            <a:endParaRPr lang="en-US" sz="1400" dirty="0"/>
          </a:p>
        </p:txBody>
      </p:sp>
      <p:sp>
        <p:nvSpPr>
          <p:cNvPr id="10" name="Text 8"/>
          <p:cNvSpPr/>
          <p:nvPr/>
        </p:nvSpPr>
        <p:spPr>
          <a:xfrm>
            <a:off x="4315968" y="3977640"/>
            <a:ext cx="3291840" cy="274320"/>
          </a:xfrm>
          <a:prstGeom prst="rect">
            <a:avLst/>
          </a:prstGeom>
          <a:noFill/>
          <a:ln/>
        </p:spPr>
        <p:txBody>
          <a:bodyPr wrap="square" rtlCol="0" anchor="ctr"/>
          <a:lstStyle/>
          <a:p>
            <a:pPr marL="0" indent="0">
              <a:buNone/>
            </a:pPr>
            <a:r>
              <a:rPr lang="en-US" sz="1400" b="1" kern="0" spc="120" dirty="0">
                <a:solidFill>
                  <a:srgbClr val="E8A33D"/>
                </a:solidFill>
                <a:latin typeface="Calibri" pitchFamily="34" charset="0"/>
                <a:ea typeface="Calibri" pitchFamily="34" charset="-122"/>
                <a:cs typeface="Calibri" pitchFamily="34" charset="-120"/>
              </a:rPr>
              <a:t>PREPARED BY</a:t>
            </a:r>
            <a:endParaRPr lang="en-US" sz="1400" dirty="0"/>
          </a:p>
        </p:txBody>
      </p:sp>
      <p:sp>
        <p:nvSpPr>
          <p:cNvPr id="11" name="Text 9"/>
          <p:cNvSpPr/>
          <p:nvPr/>
        </p:nvSpPr>
        <p:spPr>
          <a:xfrm>
            <a:off x="4315968" y="4251960"/>
            <a:ext cx="329184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Ikea Onyinyechi Anita </a:t>
            </a:r>
            <a:endParaRPr lang="en-US" sz="1400" dirty="0"/>
          </a:p>
        </p:txBody>
      </p:sp>
      <p:sp>
        <p:nvSpPr>
          <p:cNvPr id="12" name="Text 10"/>
          <p:cNvSpPr/>
          <p:nvPr/>
        </p:nvSpPr>
        <p:spPr>
          <a:xfrm>
            <a:off x="7882128" y="3977640"/>
            <a:ext cx="3291840" cy="274320"/>
          </a:xfrm>
          <a:prstGeom prst="rect">
            <a:avLst/>
          </a:prstGeom>
          <a:noFill/>
          <a:ln/>
        </p:spPr>
        <p:txBody>
          <a:bodyPr wrap="square" rtlCol="0" anchor="ctr"/>
          <a:lstStyle/>
          <a:p>
            <a:pPr marL="0" indent="0">
              <a:buNone/>
            </a:pPr>
            <a:r>
              <a:rPr lang="en-US" sz="1400" b="1" kern="0" spc="120" dirty="0">
                <a:solidFill>
                  <a:srgbClr val="E8A33D"/>
                </a:solidFill>
                <a:latin typeface="Calibri" pitchFamily="34" charset="0"/>
                <a:ea typeface="Calibri" pitchFamily="34" charset="-122"/>
                <a:cs typeface="Calibri" pitchFamily="34" charset="-120"/>
              </a:rPr>
              <a:t>DOCUMENT TYPE</a:t>
            </a:r>
            <a:endParaRPr lang="en-US" sz="1400" dirty="0"/>
          </a:p>
        </p:txBody>
      </p:sp>
      <p:sp>
        <p:nvSpPr>
          <p:cNvPr id="13" name="Text 11"/>
          <p:cNvSpPr/>
          <p:nvPr/>
        </p:nvSpPr>
        <p:spPr>
          <a:xfrm>
            <a:off x="7882128" y="4251960"/>
            <a:ext cx="3291840" cy="365760"/>
          </a:xfrm>
          <a:prstGeom prst="rect">
            <a:avLst/>
          </a:prstGeom>
          <a:noFill/>
          <a:ln/>
        </p:spPr>
        <p:txBody>
          <a:bodyPr wrap="square" rtlCol="0" anchor="ctr"/>
          <a:lstStyle/>
          <a:p>
            <a:pPr marL="0" indent="0">
              <a:buNone/>
            </a:pPr>
            <a:r>
              <a:rPr lang="en-US" sz="1400" dirty="0">
                <a:solidFill>
                  <a:srgbClr val="FFFFFF"/>
                </a:solidFill>
                <a:latin typeface="Calibri" pitchFamily="34" charset="0"/>
                <a:ea typeface="Calibri" pitchFamily="34" charset="-122"/>
                <a:cs typeface="Calibri" pitchFamily="34" charset="-120"/>
              </a:rPr>
              <a:t>Project Documentation</a:t>
            </a:r>
            <a:endParaRPr lang="en-US" sz="1400" dirty="0"/>
          </a:p>
        </p:txBody>
      </p:sp>
      <p:sp>
        <p:nvSpPr>
          <p:cNvPr id="14" name="Text 12"/>
          <p:cNvSpPr/>
          <p:nvPr/>
        </p:nvSpPr>
        <p:spPr>
          <a:xfrm>
            <a:off x="731520" y="6126480"/>
            <a:ext cx="7315200" cy="320040"/>
          </a:xfrm>
          <a:prstGeom prst="rect">
            <a:avLst/>
          </a:prstGeom>
          <a:noFill/>
          <a:ln/>
        </p:spPr>
        <p:txBody>
          <a:bodyPr wrap="square" rtlCol="0" anchor="ctr"/>
          <a:lstStyle/>
          <a:p>
            <a:pPr marL="0" indent="0">
              <a:buNone/>
            </a:pPr>
            <a:r>
              <a:rPr lang="en-US" sz="1100" dirty="0">
                <a:solidFill>
                  <a:srgbClr val="CADCFC"/>
                </a:solidFill>
                <a:latin typeface="Calibri" pitchFamily="34" charset="0"/>
                <a:ea typeface="Calibri" pitchFamily="34" charset="-122"/>
                <a:cs typeface="Calibri" pitchFamily="34" charset="-120"/>
              </a:rPr>
              <a:t>Prepared for Senior Management Review</a:t>
            </a:r>
            <a:endParaRPr lang="en-US" sz="1100" dirty="0"/>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01 · BACKGROUND</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Growing Company, an Ageing Lunch Process</a:t>
            </a:r>
            <a:endParaRPr lang="en-US" sz="3000" dirty="0"/>
          </a:p>
        </p:txBody>
      </p:sp>
      <p:sp>
        <p:nvSpPr>
          <p:cNvPr id="4" name="Shape 2"/>
          <p:cNvSpPr/>
          <p:nvPr/>
        </p:nvSpPr>
        <p:spPr>
          <a:xfrm>
            <a:off x="548640" y="1920240"/>
            <a:ext cx="2606040" cy="1737360"/>
          </a:xfrm>
          <a:prstGeom prst="roundRect">
            <a:avLst>
              <a:gd name="adj" fmla="val 4211"/>
            </a:avLst>
          </a:prstGeom>
          <a:solidFill>
            <a:srgbClr val="F4F6FB"/>
          </a:solidFill>
          <a:ln w="12700">
            <a:solidFill>
              <a:srgbClr val="E3E7F0"/>
            </a:solidFill>
            <a:prstDash val="solid"/>
          </a:ln>
        </p:spPr>
        <p:txBody>
          <a:bodyPr/>
          <a:lstStyle/>
          <a:p>
            <a:endParaRPr lang="en-US" sz="1400"/>
          </a:p>
        </p:txBody>
      </p:sp>
      <p:sp>
        <p:nvSpPr>
          <p:cNvPr id="5" name="Text 3"/>
          <p:cNvSpPr/>
          <p:nvPr/>
        </p:nvSpPr>
        <p:spPr>
          <a:xfrm>
            <a:off x="685800" y="2084832"/>
            <a:ext cx="2331720" cy="68580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1,500</a:t>
            </a:r>
            <a:endParaRPr lang="en-US" sz="3200" dirty="0"/>
          </a:p>
        </p:txBody>
      </p:sp>
      <p:sp>
        <p:nvSpPr>
          <p:cNvPr id="6" name="Text 4"/>
          <p:cNvSpPr/>
          <p:nvPr/>
        </p:nvSpPr>
        <p:spPr>
          <a:xfrm>
            <a:off x="685800" y="2743200"/>
            <a:ext cx="2331720" cy="822960"/>
          </a:xfrm>
          <a:prstGeom prst="rect">
            <a:avLst/>
          </a:prstGeom>
          <a:noFill/>
          <a:ln/>
        </p:spPr>
        <p:txBody>
          <a:bodyPr wrap="square" rtlCol="0" anchor="t"/>
          <a:lstStyle/>
          <a:p>
            <a:pPr marL="0" indent="0" algn="l">
              <a:buNone/>
            </a:pPr>
            <a:r>
              <a:rPr lang="en-US" sz="1400" dirty="0">
                <a:solidFill>
                  <a:srgbClr val="6B7280"/>
                </a:solidFill>
                <a:latin typeface="Calibri" pitchFamily="34" charset="0"/>
                <a:ea typeface="Calibri" pitchFamily="34" charset="-122"/>
                <a:cs typeface="Calibri" pitchFamily="34" charset="-120"/>
              </a:rPr>
              <a:t>Employees</a:t>
            </a:r>
            <a:endParaRPr lang="en-US" sz="1400" dirty="0"/>
          </a:p>
          <a:p>
            <a:pPr marL="0" indent="0" algn="l">
              <a:buNone/>
            </a:pPr>
            <a:r>
              <a:rPr lang="en-US" sz="1400" dirty="0">
                <a:solidFill>
                  <a:srgbClr val="6B7280"/>
                </a:solidFill>
                <a:latin typeface="Calibri" pitchFamily="34" charset="0"/>
                <a:ea typeface="Calibri" pitchFamily="34" charset="-122"/>
                <a:cs typeface="Calibri" pitchFamily="34" charset="-120"/>
              </a:rPr>
              <a:t>across 12 floors</a:t>
            </a:r>
            <a:endParaRPr lang="en-US" sz="1400" dirty="0"/>
          </a:p>
        </p:txBody>
      </p:sp>
      <p:sp>
        <p:nvSpPr>
          <p:cNvPr id="7" name="Shape 5"/>
          <p:cNvSpPr/>
          <p:nvPr/>
        </p:nvSpPr>
        <p:spPr>
          <a:xfrm>
            <a:off x="3337560" y="1920240"/>
            <a:ext cx="2606040" cy="1737360"/>
          </a:xfrm>
          <a:prstGeom prst="roundRect">
            <a:avLst>
              <a:gd name="adj" fmla="val 4211"/>
            </a:avLst>
          </a:prstGeom>
          <a:solidFill>
            <a:srgbClr val="F4F6FB"/>
          </a:solidFill>
          <a:ln w="12700">
            <a:solidFill>
              <a:srgbClr val="E3E7F0"/>
            </a:solidFill>
            <a:prstDash val="solid"/>
          </a:ln>
        </p:spPr>
        <p:txBody>
          <a:bodyPr/>
          <a:lstStyle/>
          <a:p>
            <a:endParaRPr lang="en-US" sz="1400"/>
          </a:p>
        </p:txBody>
      </p:sp>
      <p:sp>
        <p:nvSpPr>
          <p:cNvPr id="8" name="Text 6"/>
          <p:cNvSpPr/>
          <p:nvPr/>
        </p:nvSpPr>
        <p:spPr>
          <a:xfrm>
            <a:off x="3474720" y="2084832"/>
            <a:ext cx="2331720" cy="68580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2</a:t>
            </a:r>
            <a:endParaRPr lang="en-US" sz="3200" dirty="0"/>
          </a:p>
        </p:txBody>
      </p:sp>
      <p:sp>
        <p:nvSpPr>
          <p:cNvPr id="9" name="Text 7"/>
          <p:cNvSpPr/>
          <p:nvPr/>
        </p:nvSpPr>
        <p:spPr>
          <a:xfrm>
            <a:off x="3474720" y="2743200"/>
            <a:ext cx="2331720" cy="822960"/>
          </a:xfrm>
          <a:prstGeom prst="rect">
            <a:avLst/>
          </a:prstGeom>
          <a:noFill/>
          <a:ln/>
        </p:spPr>
        <p:txBody>
          <a:bodyPr wrap="square" rtlCol="0" anchor="t"/>
          <a:lstStyle/>
          <a:p>
            <a:pPr marL="0" indent="0" algn="l">
              <a:buNone/>
            </a:pPr>
            <a:r>
              <a:rPr lang="en-US" sz="1400" dirty="0">
                <a:solidFill>
                  <a:srgbClr val="6B7280"/>
                </a:solidFill>
                <a:latin typeface="Calibri" pitchFamily="34" charset="0"/>
                <a:ea typeface="Calibri" pitchFamily="34" charset="-122"/>
                <a:cs typeface="Calibri" pitchFamily="34" charset="-120"/>
              </a:rPr>
              <a:t>Canteens</a:t>
            </a:r>
            <a:endParaRPr lang="en-US" sz="1400" dirty="0"/>
          </a:p>
          <a:p>
            <a:pPr marL="0" indent="0" algn="l">
              <a:buNone/>
            </a:pPr>
            <a:r>
              <a:rPr lang="en-US" sz="1400" dirty="0">
                <a:solidFill>
                  <a:srgbClr val="6B7280"/>
                </a:solidFill>
                <a:latin typeface="Calibri" pitchFamily="34" charset="0"/>
                <a:ea typeface="Calibri" pitchFamily="34" charset="-122"/>
                <a:cs typeface="Calibri" pitchFamily="34" charset="-120"/>
              </a:rPr>
              <a:t>serving the entire office</a:t>
            </a:r>
            <a:endParaRPr lang="en-US" sz="1400" dirty="0"/>
          </a:p>
        </p:txBody>
      </p:sp>
      <p:sp>
        <p:nvSpPr>
          <p:cNvPr id="10" name="Shape 8"/>
          <p:cNvSpPr/>
          <p:nvPr/>
        </p:nvSpPr>
        <p:spPr>
          <a:xfrm>
            <a:off x="6126480" y="1920240"/>
            <a:ext cx="2606040" cy="1737360"/>
          </a:xfrm>
          <a:prstGeom prst="roundRect">
            <a:avLst>
              <a:gd name="adj" fmla="val 4211"/>
            </a:avLst>
          </a:prstGeom>
          <a:solidFill>
            <a:srgbClr val="F4F6FB"/>
          </a:solidFill>
          <a:ln w="12700">
            <a:solidFill>
              <a:srgbClr val="E3E7F0"/>
            </a:solidFill>
            <a:prstDash val="solid"/>
          </a:ln>
        </p:spPr>
        <p:txBody>
          <a:bodyPr/>
          <a:lstStyle/>
          <a:p>
            <a:endParaRPr lang="en-US"/>
          </a:p>
        </p:txBody>
      </p:sp>
      <p:sp>
        <p:nvSpPr>
          <p:cNvPr id="11" name="Text 9"/>
          <p:cNvSpPr/>
          <p:nvPr/>
        </p:nvSpPr>
        <p:spPr>
          <a:xfrm>
            <a:off x="6263640" y="2084832"/>
            <a:ext cx="2331720" cy="68580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300</a:t>
            </a:r>
            <a:endParaRPr lang="en-US" sz="3200" dirty="0"/>
          </a:p>
        </p:txBody>
      </p:sp>
      <p:sp>
        <p:nvSpPr>
          <p:cNvPr id="12" name="Text 10"/>
          <p:cNvSpPr/>
          <p:nvPr/>
        </p:nvSpPr>
        <p:spPr>
          <a:xfrm>
            <a:off x="6263640" y="2743200"/>
            <a:ext cx="2331720" cy="822960"/>
          </a:xfrm>
          <a:prstGeom prst="rect">
            <a:avLst/>
          </a:prstGeom>
          <a:noFill/>
          <a:ln/>
        </p:spPr>
        <p:txBody>
          <a:bodyPr wrap="square" rtlCol="0" anchor="t"/>
          <a:lstStyle/>
          <a:p>
            <a:pPr marL="0" indent="0" algn="l">
              <a:buNone/>
            </a:pPr>
            <a:r>
              <a:rPr lang="en-US" sz="1400" dirty="0">
                <a:solidFill>
                  <a:srgbClr val="6B7280"/>
                </a:solidFill>
                <a:latin typeface="Calibri" pitchFamily="34" charset="0"/>
                <a:ea typeface="Calibri" pitchFamily="34" charset="-122"/>
                <a:cs typeface="Calibri" pitchFamily="34" charset="-120"/>
              </a:rPr>
              <a:t>Max seats</a:t>
            </a:r>
            <a:endParaRPr lang="en-US" sz="1400" dirty="0"/>
          </a:p>
          <a:p>
            <a:pPr marL="0" indent="0" algn="l">
              <a:buNone/>
            </a:pPr>
            <a:r>
              <a:rPr lang="en-US" sz="1400" dirty="0">
                <a:solidFill>
                  <a:srgbClr val="6B7280"/>
                </a:solidFill>
                <a:latin typeface="Calibri" pitchFamily="34" charset="0"/>
                <a:ea typeface="Calibri" pitchFamily="34" charset="-122"/>
                <a:cs typeface="Calibri" pitchFamily="34" charset="-120"/>
              </a:rPr>
              <a:t>available at any one time</a:t>
            </a:r>
            <a:endParaRPr lang="en-US" sz="1400" dirty="0"/>
          </a:p>
        </p:txBody>
      </p:sp>
      <p:sp>
        <p:nvSpPr>
          <p:cNvPr id="13" name="Shape 11"/>
          <p:cNvSpPr/>
          <p:nvPr/>
        </p:nvSpPr>
        <p:spPr>
          <a:xfrm>
            <a:off x="8915400" y="1920240"/>
            <a:ext cx="2606040" cy="1737360"/>
          </a:xfrm>
          <a:prstGeom prst="roundRect">
            <a:avLst>
              <a:gd name="adj" fmla="val 4211"/>
            </a:avLst>
          </a:prstGeom>
          <a:solidFill>
            <a:srgbClr val="F4F6FB"/>
          </a:solidFill>
          <a:ln w="12700">
            <a:solidFill>
              <a:srgbClr val="E3E7F0"/>
            </a:solidFill>
            <a:prstDash val="solid"/>
          </a:ln>
        </p:spPr>
        <p:txBody>
          <a:bodyPr/>
          <a:lstStyle/>
          <a:p>
            <a:endParaRPr lang="en-US" sz="1400"/>
          </a:p>
        </p:txBody>
      </p:sp>
      <p:sp>
        <p:nvSpPr>
          <p:cNvPr id="14" name="Text 12"/>
          <p:cNvSpPr/>
          <p:nvPr/>
        </p:nvSpPr>
        <p:spPr>
          <a:xfrm>
            <a:off x="9052560" y="2084832"/>
            <a:ext cx="2331720" cy="685800"/>
          </a:xfrm>
          <a:prstGeom prst="rect">
            <a:avLst/>
          </a:prstGeom>
          <a:noFill/>
          <a:ln/>
        </p:spPr>
        <p:txBody>
          <a:bodyPr wrap="square" rtlCol="0" anchor="ctr"/>
          <a:lstStyle/>
          <a:p>
            <a:pPr marL="0" indent="0" algn="l">
              <a:buNone/>
            </a:pPr>
            <a:r>
              <a:rPr lang="en-US" sz="3200" b="1" dirty="0">
                <a:solidFill>
                  <a:srgbClr val="1E2761"/>
                </a:solidFill>
                <a:latin typeface="Cambria" pitchFamily="34" charset="0"/>
                <a:ea typeface="Cambria" pitchFamily="34" charset="-122"/>
                <a:cs typeface="Cambria" pitchFamily="34" charset="-120"/>
              </a:rPr>
              <a:t>12–1pm</a:t>
            </a:r>
            <a:endParaRPr lang="en-US" sz="3200" dirty="0"/>
          </a:p>
        </p:txBody>
      </p:sp>
      <p:sp>
        <p:nvSpPr>
          <p:cNvPr id="15" name="Text 13"/>
          <p:cNvSpPr/>
          <p:nvPr/>
        </p:nvSpPr>
        <p:spPr>
          <a:xfrm>
            <a:off x="9052560" y="2743200"/>
            <a:ext cx="2331720" cy="822960"/>
          </a:xfrm>
          <a:prstGeom prst="rect">
            <a:avLst/>
          </a:prstGeom>
          <a:noFill/>
          <a:ln/>
        </p:spPr>
        <p:txBody>
          <a:bodyPr wrap="square" rtlCol="0" anchor="t"/>
          <a:lstStyle/>
          <a:p>
            <a:pPr marL="0" indent="0" algn="l">
              <a:buNone/>
            </a:pPr>
            <a:r>
              <a:rPr lang="en-US" sz="1400" dirty="0">
                <a:solidFill>
                  <a:srgbClr val="6B7280"/>
                </a:solidFill>
                <a:latin typeface="Calibri" pitchFamily="34" charset="0"/>
                <a:ea typeface="Calibri" pitchFamily="34" charset="-122"/>
                <a:cs typeface="Calibri" pitchFamily="34" charset="-120"/>
              </a:rPr>
              <a:t>Peak demand window</a:t>
            </a:r>
            <a:endParaRPr lang="en-US" sz="1400" dirty="0"/>
          </a:p>
          <a:p>
            <a:pPr marL="0" indent="0" algn="l">
              <a:buNone/>
            </a:pPr>
            <a:r>
              <a:rPr lang="en-US" sz="1400" dirty="0">
                <a:solidFill>
                  <a:srgbClr val="6B7280"/>
                </a:solidFill>
                <a:latin typeface="Calibri" pitchFamily="34" charset="0"/>
                <a:ea typeface="Calibri" pitchFamily="34" charset="-122"/>
                <a:cs typeface="Calibri" pitchFamily="34" charset="-120"/>
              </a:rPr>
              <a:t>for lunch</a:t>
            </a:r>
            <a:endParaRPr lang="en-US" sz="1400" dirty="0"/>
          </a:p>
        </p:txBody>
      </p:sp>
      <p:sp>
        <p:nvSpPr>
          <p:cNvPr id="16" name="Text 14"/>
          <p:cNvSpPr/>
          <p:nvPr/>
        </p:nvSpPr>
        <p:spPr>
          <a:xfrm>
            <a:off x="548640" y="3977640"/>
            <a:ext cx="5486400" cy="2103120"/>
          </a:xfrm>
          <a:prstGeom prst="rect">
            <a:avLst/>
          </a:prstGeom>
          <a:noFill/>
          <a:ln/>
        </p:spPr>
        <p:txBody>
          <a:bodyPr wrap="square" rtlCol="0" anchor="t"/>
          <a:lstStyle/>
          <a:p>
            <a:pPr marL="0" indent="0">
              <a:lnSpc>
                <a:spcPct val="125000"/>
              </a:lnSpc>
              <a:buNone/>
            </a:pPr>
            <a:r>
              <a:rPr lang="en-US" sz="1400" dirty="0">
                <a:solidFill>
                  <a:srgbClr val="24272E"/>
                </a:solidFill>
                <a:latin typeface="Calibri" pitchFamily="34" charset="0"/>
                <a:ea typeface="Calibri" pitchFamily="34" charset="-122"/>
                <a:cs typeface="Calibri" pitchFamily="34" charset="-120"/>
              </a:rPr>
              <a:t>Unilever is a British-Dutch FMCG company headquartered in London, one of the oldest in the world, with products sold in around 190 countries. In the UK office, both canteens together can only seat about 300 of the 1,500-strong workforce at once, and most staff take lunch in the same one-hour window.</a:t>
            </a:r>
            <a:endParaRPr lang="en-US" sz="1400" dirty="0"/>
          </a:p>
        </p:txBody>
      </p:sp>
      <p:sp>
        <p:nvSpPr>
          <p:cNvPr id="17" name="Shape 15"/>
          <p:cNvSpPr/>
          <p:nvPr/>
        </p:nvSpPr>
        <p:spPr>
          <a:xfrm>
            <a:off x="6355080" y="3977640"/>
            <a:ext cx="5285232" cy="2148840"/>
          </a:xfrm>
          <a:prstGeom prst="roundRect">
            <a:avLst>
              <a:gd name="adj" fmla="val 3404"/>
            </a:avLst>
          </a:prstGeom>
          <a:solidFill>
            <a:srgbClr val="1E2761"/>
          </a:solidFill>
          <a:ln/>
        </p:spPr>
        <p:txBody>
          <a:bodyPr/>
          <a:lstStyle/>
          <a:p>
            <a:endParaRPr lang="en-US" sz="1400" dirty="0"/>
          </a:p>
        </p:txBody>
      </p:sp>
      <p:sp>
        <p:nvSpPr>
          <p:cNvPr id="18" name="Text 16"/>
          <p:cNvSpPr/>
          <p:nvPr/>
        </p:nvSpPr>
        <p:spPr>
          <a:xfrm>
            <a:off x="6675120" y="4160520"/>
            <a:ext cx="4663440" cy="274320"/>
          </a:xfrm>
          <a:prstGeom prst="rect">
            <a:avLst/>
          </a:prstGeom>
          <a:noFill/>
          <a:ln/>
        </p:spPr>
        <p:txBody>
          <a:bodyPr wrap="square" rtlCol="0" anchor="ctr"/>
          <a:lstStyle/>
          <a:p>
            <a:pPr marL="0" indent="0">
              <a:buNone/>
            </a:pPr>
            <a:r>
              <a:rPr lang="en-US" sz="1400" b="1" kern="0" spc="120" dirty="0">
                <a:solidFill>
                  <a:srgbClr val="E8A33D"/>
                </a:solidFill>
                <a:latin typeface="Calibri" pitchFamily="34" charset="0"/>
                <a:ea typeface="Calibri" pitchFamily="34" charset="-122"/>
                <a:cs typeface="Calibri" pitchFamily="34" charset="-120"/>
              </a:rPr>
              <a:t>THE RIPPLE EFFECT</a:t>
            </a:r>
            <a:endParaRPr lang="en-US" sz="1400" dirty="0"/>
          </a:p>
        </p:txBody>
      </p:sp>
      <p:sp>
        <p:nvSpPr>
          <p:cNvPr id="19" name="Text 17"/>
          <p:cNvSpPr/>
          <p:nvPr/>
        </p:nvSpPr>
        <p:spPr>
          <a:xfrm>
            <a:off x="6675120" y="4480560"/>
            <a:ext cx="4663440" cy="1554480"/>
          </a:xfrm>
          <a:prstGeom prst="rect">
            <a:avLst/>
          </a:prstGeom>
          <a:noFill/>
          <a:ln/>
        </p:spPr>
        <p:txBody>
          <a:bodyPr wrap="square" rtlCol="0" anchor="t"/>
          <a:lstStyle/>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Long queues and congestion during the lunch rush
</a:t>
            </a:r>
            <a:endParaRPr lang="en-US" sz="1250" dirty="0"/>
          </a:p>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Popular dishes sell out while others go to waste
</a:t>
            </a:r>
            <a:endParaRPr lang="en-US" sz="1250" dirty="0"/>
          </a:p>
          <a:p>
            <a:pPr marL="342900" indent="-342900">
              <a:lnSpc>
                <a:spcPct val="130000"/>
              </a:lnSpc>
              <a:buSzPct val="100000"/>
              <a:buChar char="•"/>
            </a:pPr>
            <a:r>
              <a:rPr lang="en-US" sz="1250" dirty="0">
                <a:solidFill>
                  <a:srgbClr val="FFFFFF"/>
                </a:solidFill>
                <a:latin typeface="Calibri" pitchFamily="34" charset="0"/>
                <a:ea typeface="Calibri" pitchFamily="34" charset="-122"/>
                <a:cs typeface="Calibri" pitchFamily="34" charset="-120"/>
              </a:rPr>
              <a:t>No visibility of demand ahead of meal prep</a:t>
            </a:r>
            <a:endParaRPr lang="en-US" sz="1250" dirty="0"/>
          </a:p>
        </p:txBody>
      </p:sp>
      <p:sp>
        <p:nvSpPr>
          <p:cNvPr id="20" name="Text 18"/>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21" name="Text 19"/>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 · BUSINESS CASE</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The Business Problem &amp; What We Must Achieve</a:t>
            </a:r>
            <a:endParaRPr lang="en-US" sz="3000" dirty="0"/>
          </a:p>
        </p:txBody>
      </p:sp>
      <p:sp>
        <p:nvSpPr>
          <p:cNvPr id="4" name="Text 2"/>
          <p:cNvSpPr/>
          <p:nvPr/>
        </p:nvSpPr>
        <p:spPr>
          <a:xfrm>
            <a:off x="548640" y="1874520"/>
            <a:ext cx="512064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THE PROBLEM</a:t>
            </a:r>
            <a:endParaRPr lang="en-US" sz="1200" dirty="0"/>
          </a:p>
        </p:txBody>
      </p:sp>
      <p:sp>
        <p:nvSpPr>
          <p:cNvPr id="5" name="Text 3"/>
          <p:cNvSpPr/>
          <p:nvPr/>
        </p:nvSpPr>
        <p:spPr>
          <a:xfrm>
            <a:off x="548640" y="2194560"/>
            <a:ext cx="5120640" cy="1417320"/>
          </a:xfrm>
          <a:prstGeom prst="rect">
            <a:avLst/>
          </a:prstGeom>
          <a:noFill/>
          <a:ln/>
        </p:spPr>
        <p:txBody>
          <a:bodyPr wrap="square" rtlCol="0" anchor="t"/>
          <a:lstStyle/>
          <a:p>
            <a:pPr marL="0" indent="0">
              <a:lnSpc>
                <a:spcPct val="125000"/>
              </a:lnSpc>
              <a:buNone/>
            </a:pPr>
            <a:r>
              <a:rPr lang="en-US" sz="1300" dirty="0">
                <a:solidFill>
                  <a:srgbClr val="24272E"/>
                </a:solidFill>
                <a:latin typeface="Calibri" pitchFamily="34" charset="0"/>
                <a:ea typeface="Calibri" pitchFamily="34" charset="-122"/>
                <a:cs typeface="Calibri" pitchFamily="34" charset="-120"/>
              </a:rPr>
              <a:t>Employees spend around 60 minutes away from their desk for lunch, but only 10–15 minutes is actually spent eating. The rest is lost to queuing, hunting for seats, and moving between floors, while the canteen team plans meals with no visibility of real demand.</a:t>
            </a:r>
            <a:endParaRPr lang="en-US" sz="1300" dirty="0"/>
          </a:p>
        </p:txBody>
      </p:sp>
      <p:sp>
        <p:nvSpPr>
          <p:cNvPr id="6" name="Text 4"/>
          <p:cNvSpPr/>
          <p:nvPr/>
        </p:nvSpPr>
        <p:spPr>
          <a:xfrm>
            <a:off x="548640" y="3657600"/>
            <a:ext cx="5120640" cy="274320"/>
          </a:xfrm>
          <a:prstGeom prst="rect">
            <a:avLst/>
          </a:prstGeom>
          <a:noFill/>
          <a:ln/>
        </p:spPr>
        <p:txBody>
          <a:bodyPr wrap="square" rtlCol="0" anchor="ctr"/>
          <a:lstStyle/>
          <a:p>
            <a:pPr marL="0" indent="0">
              <a:buNone/>
            </a:pPr>
            <a:r>
              <a:rPr lang="en-US" sz="1050" b="1" kern="0" spc="80" dirty="0">
                <a:solidFill>
                  <a:srgbClr val="6B7280"/>
                </a:solidFill>
                <a:latin typeface="Calibri" pitchFamily="34" charset="0"/>
                <a:ea typeface="Calibri" pitchFamily="34" charset="-122"/>
                <a:cs typeface="Calibri" pitchFamily="34" charset="-120"/>
              </a:rPr>
              <a:t>HOW A 60-MINUTE LUNCH BREAK IS SPENT</a:t>
            </a:r>
            <a:endParaRPr lang="en-US" sz="1050" dirty="0"/>
          </a:p>
        </p:txBody>
      </p:sp>
      <p:sp>
        <p:nvSpPr>
          <p:cNvPr id="7" name="Shape 5"/>
          <p:cNvSpPr/>
          <p:nvPr/>
        </p:nvSpPr>
        <p:spPr>
          <a:xfrm>
            <a:off x="548640" y="3977640"/>
            <a:ext cx="3840480" cy="502920"/>
          </a:xfrm>
          <a:prstGeom prst="rect">
            <a:avLst/>
          </a:prstGeom>
          <a:solidFill>
            <a:srgbClr val="1E2761"/>
          </a:solidFill>
          <a:ln/>
        </p:spPr>
        <p:txBody>
          <a:bodyPr/>
          <a:lstStyle/>
          <a:p>
            <a:endParaRPr lang="en-US"/>
          </a:p>
        </p:txBody>
      </p:sp>
      <p:sp>
        <p:nvSpPr>
          <p:cNvPr id="8" name="Shape 6"/>
          <p:cNvSpPr/>
          <p:nvPr/>
        </p:nvSpPr>
        <p:spPr>
          <a:xfrm>
            <a:off x="4389120" y="3977640"/>
            <a:ext cx="1066800" cy="502920"/>
          </a:xfrm>
          <a:prstGeom prst="rect">
            <a:avLst/>
          </a:prstGeom>
          <a:solidFill>
            <a:srgbClr val="E8A33D"/>
          </a:solidFill>
          <a:ln/>
        </p:spPr>
        <p:txBody>
          <a:bodyPr/>
          <a:lstStyle/>
          <a:p>
            <a:endParaRPr lang="en-US"/>
          </a:p>
        </p:txBody>
      </p:sp>
      <p:sp>
        <p:nvSpPr>
          <p:cNvPr id="9" name="Shape 7"/>
          <p:cNvSpPr/>
          <p:nvPr/>
        </p:nvSpPr>
        <p:spPr>
          <a:xfrm>
            <a:off x="5455920" y="3977640"/>
            <a:ext cx="213360" cy="502920"/>
          </a:xfrm>
          <a:prstGeom prst="rect">
            <a:avLst/>
          </a:prstGeom>
          <a:solidFill>
            <a:srgbClr val="CADCFC"/>
          </a:solidFill>
          <a:ln/>
        </p:spPr>
        <p:txBody>
          <a:bodyPr/>
          <a:lstStyle/>
          <a:p>
            <a:endParaRPr lang="en-US"/>
          </a:p>
        </p:txBody>
      </p:sp>
      <p:sp>
        <p:nvSpPr>
          <p:cNvPr id="10" name="Text 8"/>
          <p:cNvSpPr/>
          <p:nvPr/>
        </p:nvSpPr>
        <p:spPr>
          <a:xfrm>
            <a:off x="548640" y="4553712"/>
            <a:ext cx="2926080" cy="274320"/>
          </a:xfrm>
          <a:prstGeom prst="rect">
            <a:avLst/>
          </a:prstGeom>
          <a:noFill/>
          <a:ln/>
        </p:spPr>
        <p:txBody>
          <a:bodyPr wrap="square" rtlCol="0" anchor="ctr"/>
          <a:lstStyle/>
          <a:p>
            <a:pPr marL="0" indent="0">
              <a:buNone/>
            </a:pPr>
            <a:r>
              <a:rPr lang="en-US" sz="1000" b="1" dirty="0">
                <a:solidFill>
                  <a:srgbClr val="1E2761"/>
                </a:solidFill>
                <a:latin typeface="Calibri" pitchFamily="34" charset="0"/>
                <a:ea typeface="Calibri" pitchFamily="34" charset="-122"/>
                <a:cs typeface="Calibri" pitchFamily="34" charset="-120"/>
              </a:rPr>
              <a:t>Queuing / walking ~45 min</a:t>
            </a:r>
            <a:endParaRPr lang="en-US" sz="1000" dirty="0"/>
          </a:p>
        </p:txBody>
      </p:sp>
      <p:sp>
        <p:nvSpPr>
          <p:cNvPr id="11" name="Text 9"/>
          <p:cNvSpPr/>
          <p:nvPr/>
        </p:nvSpPr>
        <p:spPr>
          <a:xfrm>
            <a:off x="3566160" y="4553712"/>
            <a:ext cx="2011680" cy="274320"/>
          </a:xfrm>
          <a:prstGeom prst="rect">
            <a:avLst/>
          </a:prstGeom>
          <a:noFill/>
          <a:ln/>
        </p:spPr>
        <p:txBody>
          <a:bodyPr wrap="square" rtlCol="0" anchor="ctr"/>
          <a:lstStyle/>
          <a:p>
            <a:pPr marL="0" indent="0">
              <a:buNone/>
            </a:pPr>
            <a:r>
              <a:rPr lang="en-US" sz="1000" b="1" dirty="0">
                <a:solidFill>
                  <a:srgbClr val="AD7A19"/>
                </a:solidFill>
                <a:latin typeface="Calibri" pitchFamily="34" charset="0"/>
                <a:ea typeface="Calibri" pitchFamily="34" charset="-122"/>
                <a:cs typeface="Calibri" pitchFamily="34" charset="-120"/>
              </a:rPr>
              <a:t>Eating ~12 min</a:t>
            </a:r>
            <a:endParaRPr lang="en-US" sz="1000" dirty="0"/>
          </a:p>
        </p:txBody>
      </p:sp>
      <p:sp>
        <p:nvSpPr>
          <p:cNvPr id="12" name="Text 10"/>
          <p:cNvSpPr/>
          <p:nvPr/>
        </p:nvSpPr>
        <p:spPr>
          <a:xfrm>
            <a:off x="548640" y="4937760"/>
            <a:ext cx="5120640" cy="822960"/>
          </a:xfrm>
          <a:prstGeom prst="rect">
            <a:avLst/>
          </a:prstGeom>
          <a:noFill/>
          <a:ln/>
        </p:spPr>
        <p:txBody>
          <a:bodyPr wrap="square"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Some popular dishes sell out early while others are thrown away at day's end, creating both food shortage and food wastage.</a:t>
            </a:r>
            <a:endParaRPr lang="en-US" sz="1400" dirty="0"/>
          </a:p>
        </p:txBody>
      </p:sp>
      <p:sp>
        <p:nvSpPr>
          <p:cNvPr id="13" name="Shape 11"/>
          <p:cNvSpPr/>
          <p:nvPr/>
        </p:nvSpPr>
        <p:spPr>
          <a:xfrm>
            <a:off x="6035040" y="1874520"/>
            <a:ext cx="5623560" cy="4434840"/>
          </a:xfrm>
          <a:prstGeom prst="roundRect">
            <a:avLst>
              <a:gd name="adj" fmla="val 1649"/>
            </a:avLst>
          </a:prstGeom>
          <a:solidFill>
            <a:srgbClr val="F4F6FB"/>
          </a:solidFill>
          <a:ln w="12700">
            <a:solidFill>
              <a:srgbClr val="E3E7F0"/>
            </a:solidFill>
            <a:prstDash val="solid"/>
          </a:ln>
        </p:spPr>
        <p:txBody>
          <a:bodyPr/>
          <a:lstStyle/>
          <a:p>
            <a:endParaRPr lang="en-US" sz="1400"/>
          </a:p>
        </p:txBody>
      </p:sp>
      <p:sp>
        <p:nvSpPr>
          <p:cNvPr id="14" name="Text 12"/>
          <p:cNvSpPr/>
          <p:nvPr/>
        </p:nvSpPr>
        <p:spPr>
          <a:xfrm>
            <a:off x="6355080" y="2057400"/>
            <a:ext cx="5029200" cy="274320"/>
          </a:xfrm>
          <a:prstGeom prst="rect">
            <a:avLst/>
          </a:prstGeom>
          <a:noFill/>
          <a:ln/>
        </p:spPr>
        <p:txBody>
          <a:bodyPr wrap="square" rtlCol="0" anchor="ctr"/>
          <a:lstStyle/>
          <a:p>
            <a:pPr marL="0" indent="0">
              <a:buNone/>
            </a:pPr>
            <a:r>
              <a:rPr lang="en-US" sz="1400" b="1" kern="0" spc="100" dirty="0">
                <a:solidFill>
                  <a:srgbClr val="1E2761"/>
                </a:solidFill>
                <a:latin typeface="Calibri" pitchFamily="34" charset="0"/>
                <a:ea typeface="Calibri" pitchFamily="34" charset="-122"/>
                <a:cs typeface="Calibri" pitchFamily="34" charset="-120"/>
              </a:rPr>
              <a:t>BUSINESS OBJECTIVES</a:t>
            </a:r>
            <a:endParaRPr lang="en-US" sz="1400" dirty="0"/>
          </a:p>
        </p:txBody>
      </p:sp>
      <p:sp>
        <p:nvSpPr>
          <p:cNvPr id="15" name="Shape 13"/>
          <p:cNvSpPr/>
          <p:nvPr/>
        </p:nvSpPr>
        <p:spPr>
          <a:xfrm>
            <a:off x="6355080" y="2441448"/>
            <a:ext cx="201168" cy="201168"/>
          </a:xfrm>
          <a:prstGeom prst="ellipse">
            <a:avLst/>
          </a:prstGeom>
          <a:solidFill>
            <a:srgbClr val="E8A33D"/>
          </a:solidFill>
          <a:ln/>
        </p:spPr>
        <p:txBody>
          <a:bodyPr/>
          <a:lstStyle/>
          <a:p>
            <a:endParaRPr lang="en-US"/>
          </a:p>
        </p:txBody>
      </p:sp>
      <p:sp>
        <p:nvSpPr>
          <p:cNvPr id="16" name="Text 14"/>
          <p:cNvSpPr/>
          <p:nvPr/>
        </p:nvSpPr>
        <p:spPr>
          <a:xfrm>
            <a:off x="6355080" y="24323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1</a:t>
            </a:r>
            <a:endParaRPr lang="en-US" sz="900" dirty="0"/>
          </a:p>
        </p:txBody>
      </p:sp>
      <p:sp>
        <p:nvSpPr>
          <p:cNvPr id="17" name="Text 15"/>
          <p:cNvSpPr/>
          <p:nvPr/>
        </p:nvSpPr>
        <p:spPr>
          <a:xfrm>
            <a:off x="6656832" y="23774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Reduce long queues and overcrowding during lunch hours</a:t>
            </a:r>
            <a:endParaRPr lang="en-US" sz="1400" dirty="0"/>
          </a:p>
        </p:txBody>
      </p:sp>
      <p:sp>
        <p:nvSpPr>
          <p:cNvPr id="18" name="Shape 16"/>
          <p:cNvSpPr/>
          <p:nvPr/>
        </p:nvSpPr>
        <p:spPr>
          <a:xfrm>
            <a:off x="6355080" y="2784348"/>
            <a:ext cx="201168" cy="201168"/>
          </a:xfrm>
          <a:prstGeom prst="ellipse">
            <a:avLst/>
          </a:prstGeom>
          <a:solidFill>
            <a:srgbClr val="E8A33D"/>
          </a:solidFill>
          <a:ln/>
        </p:spPr>
        <p:txBody>
          <a:bodyPr/>
          <a:lstStyle/>
          <a:p>
            <a:endParaRPr lang="en-US"/>
          </a:p>
        </p:txBody>
      </p:sp>
      <p:sp>
        <p:nvSpPr>
          <p:cNvPr id="19" name="Text 17"/>
          <p:cNvSpPr/>
          <p:nvPr/>
        </p:nvSpPr>
        <p:spPr>
          <a:xfrm>
            <a:off x="6355080" y="27752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2</a:t>
            </a:r>
            <a:endParaRPr lang="en-US" sz="900" dirty="0"/>
          </a:p>
        </p:txBody>
      </p:sp>
      <p:sp>
        <p:nvSpPr>
          <p:cNvPr id="20" name="Text 18"/>
          <p:cNvSpPr/>
          <p:nvPr/>
        </p:nvSpPr>
        <p:spPr>
          <a:xfrm>
            <a:off x="6656832" y="27203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Cut the time employees spend away from their workstation</a:t>
            </a:r>
            <a:endParaRPr lang="en-US" sz="1400" dirty="0"/>
          </a:p>
        </p:txBody>
      </p:sp>
      <p:sp>
        <p:nvSpPr>
          <p:cNvPr id="21" name="Shape 19"/>
          <p:cNvSpPr/>
          <p:nvPr/>
        </p:nvSpPr>
        <p:spPr>
          <a:xfrm>
            <a:off x="6355080" y="3127248"/>
            <a:ext cx="201168" cy="201168"/>
          </a:xfrm>
          <a:prstGeom prst="ellipse">
            <a:avLst/>
          </a:prstGeom>
          <a:solidFill>
            <a:srgbClr val="E8A33D"/>
          </a:solidFill>
          <a:ln/>
        </p:spPr>
        <p:txBody>
          <a:bodyPr/>
          <a:lstStyle/>
          <a:p>
            <a:endParaRPr lang="en-US"/>
          </a:p>
        </p:txBody>
      </p:sp>
      <p:sp>
        <p:nvSpPr>
          <p:cNvPr id="22" name="Text 20"/>
          <p:cNvSpPr/>
          <p:nvPr/>
        </p:nvSpPr>
        <p:spPr>
          <a:xfrm>
            <a:off x="6355080" y="31181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3</a:t>
            </a:r>
            <a:endParaRPr lang="en-US" sz="900" dirty="0"/>
          </a:p>
        </p:txBody>
      </p:sp>
      <p:sp>
        <p:nvSpPr>
          <p:cNvPr id="23" name="Text 21"/>
          <p:cNvSpPr/>
          <p:nvPr/>
        </p:nvSpPr>
        <p:spPr>
          <a:xfrm>
            <a:off x="6656832" y="30632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Enable advance meal ordering for a better lunch experience</a:t>
            </a:r>
            <a:endParaRPr lang="en-US" sz="1400" dirty="0"/>
          </a:p>
        </p:txBody>
      </p:sp>
      <p:sp>
        <p:nvSpPr>
          <p:cNvPr id="24" name="Shape 22"/>
          <p:cNvSpPr/>
          <p:nvPr/>
        </p:nvSpPr>
        <p:spPr>
          <a:xfrm>
            <a:off x="6355080" y="3470148"/>
            <a:ext cx="201168" cy="201168"/>
          </a:xfrm>
          <a:prstGeom prst="ellipse">
            <a:avLst/>
          </a:prstGeom>
          <a:solidFill>
            <a:srgbClr val="E8A33D"/>
          </a:solidFill>
          <a:ln/>
        </p:spPr>
        <p:txBody>
          <a:bodyPr/>
          <a:lstStyle/>
          <a:p>
            <a:endParaRPr lang="en-US"/>
          </a:p>
        </p:txBody>
      </p:sp>
      <p:sp>
        <p:nvSpPr>
          <p:cNvPr id="25" name="Text 23"/>
          <p:cNvSpPr/>
          <p:nvPr/>
        </p:nvSpPr>
        <p:spPr>
          <a:xfrm>
            <a:off x="6355080" y="34610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4</a:t>
            </a:r>
            <a:endParaRPr lang="en-US" sz="900" dirty="0"/>
          </a:p>
        </p:txBody>
      </p:sp>
      <p:sp>
        <p:nvSpPr>
          <p:cNvPr id="26" name="Text 24"/>
          <p:cNvSpPr/>
          <p:nvPr/>
        </p:nvSpPr>
        <p:spPr>
          <a:xfrm>
            <a:off x="6656832" y="34061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Help the canteen team plan meals against confirmed orders</a:t>
            </a:r>
            <a:endParaRPr lang="en-US" sz="1400" dirty="0"/>
          </a:p>
        </p:txBody>
      </p:sp>
      <p:sp>
        <p:nvSpPr>
          <p:cNvPr id="27" name="Shape 25"/>
          <p:cNvSpPr/>
          <p:nvPr/>
        </p:nvSpPr>
        <p:spPr>
          <a:xfrm>
            <a:off x="6355080" y="3813048"/>
            <a:ext cx="201168" cy="201168"/>
          </a:xfrm>
          <a:prstGeom prst="ellipse">
            <a:avLst/>
          </a:prstGeom>
          <a:solidFill>
            <a:srgbClr val="E8A33D"/>
          </a:solidFill>
          <a:ln/>
        </p:spPr>
        <p:txBody>
          <a:bodyPr/>
          <a:lstStyle/>
          <a:p>
            <a:endParaRPr lang="en-US"/>
          </a:p>
        </p:txBody>
      </p:sp>
      <p:sp>
        <p:nvSpPr>
          <p:cNvPr id="28" name="Text 26"/>
          <p:cNvSpPr/>
          <p:nvPr/>
        </p:nvSpPr>
        <p:spPr>
          <a:xfrm>
            <a:off x="6355080" y="38039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5</a:t>
            </a:r>
            <a:endParaRPr lang="en-US" sz="900" dirty="0"/>
          </a:p>
        </p:txBody>
      </p:sp>
      <p:sp>
        <p:nvSpPr>
          <p:cNvPr id="29" name="Text 27"/>
          <p:cNvSpPr/>
          <p:nvPr/>
        </p:nvSpPr>
        <p:spPr>
          <a:xfrm>
            <a:off x="6656832" y="37490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Reduce food shortage and food wastage</a:t>
            </a:r>
            <a:endParaRPr lang="en-US" sz="1400" dirty="0"/>
          </a:p>
        </p:txBody>
      </p:sp>
      <p:sp>
        <p:nvSpPr>
          <p:cNvPr id="30" name="Shape 28"/>
          <p:cNvSpPr/>
          <p:nvPr/>
        </p:nvSpPr>
        <p:spPr>
          <a:xfrm>
            <a:off x="6355080" y="4155948"/>
            <a:ext cx="201168" cy="201168"/>
          </a:xfrm>
          <a:prstGeom prst="ellipse">
            <a:avLst/>
          </a:prstGeom>
          <a:solidFill>
            <a:srgbClr val="E8A33D"/>
          </a:solidFill>
          <a:ln/>
        </p:spPr>
        <p:txBody>
          <a:bodyPr/>
          <a:lstStyle/>
          <a:p>
            <a:endParaRPr lang="en-US"/>
          </a:p>
        </p:txBody>
      </p:sp>
      <p:sp>
        <p:nvSpPr>
          <p:cNvPr id="31" name="Text 29"/>
          <p:cNvSpPr/>
          <p:nvPr/>
        </p:nvSpPr>
        <p:spPr>
          <a:xfrm>
            <a:off x="6355080" y="41468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6</a:t>
            </a:r>
            <a:endParaRPr lang="en-US" sz="900" dirty="0"/>
          </a:p>
        </p:txBody>
      </p:sp>
      <p:sp>
        <p:nvSpPr>
          <p:cNvPr id="32" name="Text 30"/>
          <p:cNvSpPr/>
          <p:nvPr/>
        </p:nvSpPr>
        <p:spPr>
          <a:xfrm>
            <a:off x="6656832" y="40919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Improve order tracking from selection through to delivery</a:t>
            </a:r>
            <a:endParaRPr lang="en-US" sz="1400" dirty="0"/>
          </a:p>
        </p:txBody>
      </p:sp>
      <p:sp>
        <p:nvSpPr>
          <p:cNvPr id="33" name="Shape 31"/>
          <p:cNvSpPr/>
          <p:nvPr/>
        </p:nvSpPr>
        <p:spPr>
          <a:xfrm>
            <a:off x="6355080" y="4498848"/>
            <a:ext cx="201168" cy="201168"/>
          </a:xfrm>
          <a:prstGeom prst="ellipse">
            <a:avLst/>
          </a:prstGeom>
          <a:solidFill>
            <a:srgbClr val="E8A33D"/>
          </a:solidFill>
          <a:ln/>
        </p:spPr>
        <p:txBody>
          <a:bodyPr/>
          <a:lstStyle/>
          <a:p>
            <a:endParaRPr lang="en-US"/>
          </a:p>
        </p:txBody>
      </p:sp>
      <p:sp>
        <p:nvSpPr>
          <p:cNvPr id="34" name="Text 32"/>
          <p:cNvSpPr/>
          <p:nvPr/>
        </p:nvSpPr>
        <p:spPr>
          <a:xfrm>
            <a:off x="6355080" y="4489704"/>
            <a:ext cx="201168" cy="201168"/>
          </a:xfrm>
          <a:prstGeom prst="rect">
            <a:avLst/>
          </a:prstGeom>
          <a:noFill/>
          <a:ln/>
        </p:spPr>
        <p:txBody>
          <a:bodyPr wrap="square" rtlCol="0" anchor="ctr"/>
          <a:lstStyle/>
          <a:p>
            <a:pPr marL="0" indent="0" algn="ctr">
              <a:buNone/>
            </a:pPr>
            <a:r>
              <a:rPr lang="en-US" sz="900" b="1" dirty="0">
                <a:solidFill>
                  <a:srgbClr val="141B47"/>
                </a:solidFill>
                <a:latin typeface="Calibri" pitchFamily="34" charset="0"/>
                <a:ea typeface="Calibri" pitchFamily="34" charset="-122"/>
                <a:cs typeface="Calibri" pitchFamily="34" charset="-120"/>
              </a:rPr>
              <a:t>7</a:t>
            </a:r>
            <a:endParaRPr lang="en-US" sz="900" dirty="0"/>
          </a:p>
        </p:txBody>
      </p:sp>
      <p:sp>
        <p:nvSpPr>
          <p:cNvPr id="35" name="Text 33"/>
          <p:cNvSpPr/>
          <p:nvPr/>
        </p:nvSpPr>
        <p:spPr>
          <a:xfrm>
            <a:off x="6656832" y="4434840"/>
            <a:ext cx="4846320" cy="3657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Support monthly salary deductions for meals ordered</a:t>
            </a:r>
            <a:endParaRPr lang="en-US" sz="1400" dirty="0"/>
          </a:p>
        </p:txBody>
      </p:sp>
      <p:sp>
        <p:nvSpPr>
          <p:cNvPr id="36" name="Text 34"/>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37" name="Text 3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02.5 · PROPOSED SOLUTION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 Web-Based Canteen Ordering System</a:t>
            </a:r>
            <a:endParaRPr lang="en-US" sz="3000" dirty="0"/>
          </a:p>
        </p:txBody>
      </p:sp>
      <p:sp>
        <p:nvSpPr>
          <p:cNvPr id="4" name="Text 2"/>
          <p:cNvSpPr/>
          <p:nvPr/>
        </p:nvSpPr>
        <p:spPr>
          <a:xfrm>
            <a:off x="548640" y="1920240"/>
            <a:ext cx="11064240" cy="868680"/>
          </a:xfrm>
          <a:prstGeom prst="rect">
            <a:avLst/>
          </a:prstGeom>
          <a:noFill/>
          <a:ln/>
        </p:spPr>
        <p:txBody>
          <a:bodyPr wrap="square" rtlCol="0" anchor="t"/>
          <a:lstStyle/>
          <a:p>
            <a:pPr marL="0" indent="0">
              <a:lnSpc>
                <a:spcPct val="125000"/>
              </a:lnSpc>
              <a:buNone/>
            </a:pPr>
            <a:r>
              <a:rPr lang="en-US" sz="1400" dirty="0">
                <a:solidFill>
                  <a:srgbClr val="24272E"/>
                </a:solidFill>
                <a:latin typeface="Calibri" pitchFamily="34" charset="0"/>
                <a:ea typeface="Calibri" pitchFamily="34" charset="-122"/>
                <a:cs typeface="Calibri" pitchFamily="34" charset="-120"/>
              </a:rPr>
              <a:t>Employees order meals online before 11am and receive lunch at their workstation at a selected time, viewing the daily menu, checking prices, and editing orders before checkout. The canteen team updates menus, views confirmed orders, prepares meals, assigns delivery, and generates payroll deduction reports.</a:t>
            </a:r>
            <a:endParaRPr lang="en-US" sz="1400" dirty="0"/>
          </a:p>
        </p:txBody>
      </p:sp>
      <p:sp>
        <p:nvSpPr>
          <p:cNvPr id="5" name="Shape 3"/>
          <p:cNvSpPr/>
          <p:nvPr/>
        </p:nvSpPr>
        <p:spPr>
          <a:xfrm>
            <a:off x="548640" y="2971800"/>
            <a:ext cx="5577840" cy="3337560"/>
          </a:xfrm>
          <a:prstGeom prst="roundRect">
            <a:avLst>
              <a:gd name="adj" fmla="val 2192"/>
            </a:avLst>
          </a:prstGeom>
          <a:solidFill>
            <a:srgbClr val="EFF6EE"/>
          </a:solidFill>
          <a:ln/>
        </p:spPr>
        <p:txBody>
          <a:bodyPr/>
          <a:lstStyle/>
          <a:p>
            <a:endParaRPr lang="en-US"/>
          </a:p>
        </p:txBody>
      </p:sp>
      <p:sp>
        <p:nvSpPr>
          <p:cNvPr id="6" name="Text 4"/>
          <p:cNvSpPr/>
          <p:nvPr/>
        </p:nvSpPr>
        <p:spPr>
          <a:xfrm>
            <a:off x="868680" y="3154680"/>
            <a:ext cx="4572000" cy="292608"/>
          </a:xfrm>
          <a:prstGeom prst="rect">
            <a:avLst/>
          </a:prstGeom>
          <a:noFill/>
          <a:ln/>
        </p:spPr>
        <p:txBody>
          <a:bodyPr wrap="square" rtlCol="0" anchor="ctr"/>
          <a:lstStyle/>
          <a:p>
            <a:pPr marL="0" indent="0">
              <a:buNone/>
            </a:pPr>
            <a:r>
              <a:rPr lang="en-US" sz="1200" b="1" kern="0" spc="100" dirty="0">
                <a:solidFill>
                  <a:srgbClr val="2E7D32"/>
                </a:solidFill>
                <a:latin typeface="Calibri" pitchFamily="34" charset="0"/>
                <a:ea typeface="Calibri" pitchFamily="34" charset="-122"/>
                <a:cs typeface="Calibri" pitchFamily="34" charset="-120"/>
              </a:rPr>
              <a:t>IN SCOPE</a:t>
            </a:r>
            <a:endParaRPr lang="en-US" sz="1200" dirty="0"/>
          </a:p>
        </p:txBody>
      </p:sp>
      <p:sp>
        <p:nvSpPr>
          <p:cNvPr id="7" name="Text 5"/>
          <p:cNvSpPr/>
          <p:nvPr/>
        </p:nvSpPr>
        <p:spPr>
          <a:xfrm>
            <a:off x="868680" y="3493008"/>
            <a:ext cx="5029200" cy="2697480"/>
          </a:xfrm>
          <a:prstGeom prst="rect">
            <a:avLst/>
          </a:prstGeom>
          <a:noFill/>
          <a:ln/>
        </p:spPr>
        <p:txBody>
          <a:bodyPr wrap="square" rtlCol="0" anchor="t"/>
          <a:lstStyle/>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Employee login and role-based access</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Daily menu creation, update, and display</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Online lunch ordering before 11am</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Order editing and locking after confirmation</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Canteen dashboard and dish quantity summary</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Meal prep, delivery assignment &amp; closure</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Feedback submission &amp; payroll deduction report</a:t>
            </a:r>
            <a:endParaRPr lang="en-US" sz="1400" dirty="0"/>
          </a:p>
        </p:txBody>
      </p:sp>
      <p:sp>
        <p:nvSpPr>
          <p:cNvPr id="8" name="Shape 6"/>
          <p:cNvSpPr/>
          <p:nvPr/>
        </p:nvSpPr>
        <p:spPr>
          <a:xfrm>
            <a:off x="6309360" y="2971800"/>
            <a:ext cx="5349240" cy="3337560"/>
          </a:xfrm>
          <a:prstGeom prst="roundRect">
            <a:avLst>
              <a:gd name="adj" fmla="val 2192"/>
            </a:avLst>
          </a:prstGeom>
          <a:solidFill>
            <a:srgbClr val="FBEFEF"/>
          </a:solidFill>
          <a:ln/>
        </p:spPr>
        <p:txBody>
          <a:bodyPr/>
          <a:lstStyle/>
          <a:p>
            <a:endParaRPr lang="en-US"/>
          </a:p>
        </p:txBody>
      </p:sp>
      <p:sp>
        <p:nvSpPr>
          <p:cNvPr id="9" name="Text 7"/>
          <p:cNvSpPr/>
          <p:nvPr/>
        </p:nvSpPr>
        <p:spPr>
          <a:xfrm>
            <a:off x="6629400" y="3154680"/>
            <a:ext cx="4572000" cy="292608"/>
          </a:xfrm>
          <a:prstGeom prst="rect">
            <a:avLst/>
          </a:prstGeom>
          <a:noFill/>
          <a:ln/>
        </p:spPr>
        <p:txBody>
          <a:bodyPr wrap="square" rtlCol="0" anchor="ctr"/>
          <a:lstStyle/>
          <a:p>
            <a:pPr marL="0" indent="0">
              <a:buNone/>
            </a:pPr>
            <a:r>
              <a:rPr lang="en-US" sz="1200" b="1" kern="0" spc="100" dirty="0">
                <a:solidFill>
                  <a:srgbClr val="B3261E"/>
                </a:solidFill>
                <a:latin typeface="Calibri" pitchFamily="34" charset="0"/>
                <a:ea typeface="Calibri" pitchFamily="34" charset="-122"/>
                <a:cs typeface="Calibri" pitchFamily="34" charset="-120"/>
              </a:rPr>
              <a:t>OUT OF SCOPE</a:t>
            </a:r>
            <a:endParaRPr lang="en-US" sz="1200" dirty="0"/>
          </a:p>
        </p:txBody>
      </p:sp>
      <p:sp>
        <p:nvSpPr>
          <p:cNvPr id="10" name="Text 8"/>
          <p:cNvSpPr/>
          <p:nvPr/>
        </p:nvSpPr>
        <p:spPr>
          <a:xfrm>
            <a:off x="6629400" y="3493008"/>
            <a:ext cx="4800600" cy="2697480"/>
          </a:xfrm>
          <a:prstGeom prst="rect">
            <a:avLst/>
          </a:prstGeom>
          <a:noFill/>
          <a:ln/>
        </p:spPr>
        <p:txBody>
          <a:bodyPr wrap="square" rtlCol="0" anchor="t"/>
          <a:lstStyle/>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Online card payment / payment gateway</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Cash collection or external vendor payment</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Home delivery outside the office</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Table reservation or canteen space expansion</a:t>
            </a:r>
            <a:endParaRPr lang="en-US" sz="1400" dirty="0"/>
          </a:p>
          <a:p>
            <a:pPr marL="177800" indent="-177800">
              <a:lnSpc>
                <a:spcPct val="128000"/>
              </a:lnSpc>
              <a:buSzPct val="100000"/>
              <a:buChar char="✕"/>
            </a:pPr>
            <a:r>
              <a:rPr lang="en-US" sz="1400" dirty="0">
                <a:solidFill>
                  <a:srgbClr val="24272E"/>
                </a:solidFill>
                <a:latin typeface="Calibri" pitchFamily="34" charset="0"/>
                <a:ea typeface="Calibri" pitchFamily="34" charset="-122"/>
                <a:cs typeface="Calibri" pitchFamily="34" charset="-120"/>
              </a:rPr>
              <a:t>Real-time GPS tracking for delivery staff</a:t>
            </a:r>
            <a:endParaRPr lang="en-US" sz="1400" dirty="0"/>
          </a:p>
        </p:txBody>
      </p:sp>
      <p:sp>
        <p:nvSpPr>
          <p:cNvPr id="11" name="Text 9"/>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12" name="Text 1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02.7 · OPTIONS APPRAISAL</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Three Options, One Clear Recommendation</a:t>
            </a:r>
            <a:endParaRPr lang="en-US" sz="3000" dirty="0"/>
          </a:p>
        </p:txBody>
      </p:sp>
      <p:sp>
        <p:nvSpPr>
          <p:cNvPr id="4" name="Shape 2"/>
          <p:cNvSpPr/>
          <p:nvPr/>
        </p:nvSpPr>
        <p:spPr>
          <a:xfrm>
            <a:off x="548640" y="1920240"/>
            <a:ext cx="3639312" cy="4297680"/>
          </a:xfrm>
          <a:prstGeom prst="roundRect">
            <a:avLst>
              <a:gd name="adj" fmla="val 2261"/>
            </a:avLst>
          </a:prstGeom>
          <a:solidFill>
            <a:srgbClr val="F4F6FB"/>
          </a:solidFill>
          <a:ln w="12700">
            <a:solidFill>
              <a:srgbClr val="E3E7F0"/>
            </a:solidFill>
            <a:prstDash val="solid"/>
          </a:ln>
        </p:spPr>
        <p:txBody>
          <a:bodyPr/>
          <a:lstStyle/>
          <a:p>
            <a:endParaRPr lang="en-US"/>
          </a:p>
        </p:txBody>
      </p:sp>
      <p:sp>
        <p:nvSpPr>
          <p:cNvPr id="5" name="Text 3"/>
          <p:cNvSpPr/>
          <p:nvPr/>
        </p:nvSpPr>
        <p:spPr>
          <a:xfrm>
            <a:off x="777240" y="2148840"/>
            <a:ext cx="3182112" cy="274320"/>
          </a:xfrm>
          <a:prstGeom prst="rect">
            <a:avLst/>
          </a:prstGeom>
          <a:noFill/>
          <a:ln/>
        </p:spPr>
        <p:txBody>
          <a:bodyPr wrap="square" rtlCol="0" anchor="ctr"/>
          <a:lstStyle/>
          <a:p>
            <a:pPr marL="0" indent="0">
              <a:buNone/>
            </a:pPr>
            <a:r>
              <a:rPr lang="en-US" sz="1400" b="1" kern="0" spc="100" dirty="0">
                <a:solidFill>
                  <a:srgbClr val="6B7280"/>
                </a:solidFill>
                <a:latin typeface="Calibri" pitchFamily="34" charset="0"/>
                <a:ea typeface="Calibri" pitchFamily="34" charset="-122"/>
                <a:cs typeface="Calibri" pitchFamily="34" charset="-120"/>
              </a:rPr>
              <a:t>OPTION 1</a:t>
            </a:r>
            <a:endParaRPr lang="en-US" sz="1400" dirty="0"/>
          </a:p>
        </p:txBody>
      </p:sp>
      <p:sp>
        <p:nvSpPr>
          <p:cNvPr id="6" name="Text 4"/>
          <p:cNvSpPr/>
          <p:nvPr/>
        </p:nvSpPr>
        <p:spPr>
          <a:xfrm>
            <a:off x="777240" y="2404872"/>
            <a:ext cx="3182112" cy="594360"/>
          </a:xfrm>
          <a:prstGeom prst="rect">
            <a:avLst/>
          </a:prstGeom>
          <a:noFill/>
          <a:ln/>
        </p:spPr>
        <p:txBody>
          <a:bodyPr wrap="square" rtlCol="0" anchor="t"/>
          <a:lstStyle/>
          <a:p>
            <a:pPr marL="0" indent="0">
              <a:buNone/>
            </a:pPr>
            <a:r>
              <a:rPr lang="en-US" sz="1650" b="1" dirty="0">
                <a:solidFill>
                  <a:srgbClr val="24272E"/>
                </a:solidFill>
                <a:latin typeface="Cambria" pitchFamily="34" charset="0"/>
                <a:ea typeface="Cambria" pitchFamily="34" charset="-122"/>
                <a:cs typeface="Cambria" pitchFamily="34" charset="-120"/>
              </a:rPr>
              <a:t>Do Nothing</a:t>
            </a:r>
            <a:endParaRPr lang="en-US" sz="1650" dirty="0"/>
          </a:p>
        </p:txBody>
      </p:sp>
      <p:sp>
        <p:nvSpPr>
          <p:cNvPr id="7" name="Text 5"/>
          <p:cNvSpPr/>
          <p:nvPr/>
        </p:nvSpPr>
        <p:spPr>
          <a:xfrm>
            <a:off x="777240" y="2971800"/>
            <a:ext cx="3182112" cy="594360"/>
          </a:xfrm>
          <a:prstGeom prst="rect">
            <a:avLst/>
          </a:prstGeom>
          <a:noFill/>
          <a:ln/>
        </p:spPr>
        <p:txBody>
          <a:bodyPr wrap="square"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Continue with the current canteen process.</a:t>
            </a:r>
            <a:endParaRPr lang="en-US" sz="1400" dirty="0"/>
          </a:p>
        </p:txBody>
      </p:sp>
      <p:sp>
        <p:nvSpPr>
          <p:cNvPr id="8" name="Text 6"/>
          <p:cNvSpPr/>
          <p:nvPr/>
        </p:nvSpPr>
        <p:spPr>
          <a:xfrm>
            <a:off x="777240" y="3657600"/>
            <a:ext cx="3182112" cy="228600"/>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ADVANTAGE</a:t>
            </a:r>
            <a:endParaRPr lang="en-US" sz="1400" dirty="0"/>
          </a:p>
        </p:txBody>
      </p:sp>
      <p:sp>
        <p:nvSpPr>
          <p:cNvPr id="9" name="Text 7"/>
          <p:cNvSpPr/>
          <p:nvPr/>
        </p:nvSpPr>
        <p:spPr>
          <a:xfrm>
            <a:off x="777240" y="3886200"/>
            <a:ext cx="3182112"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No immediate cost</a:t>
            </a:r>
            <a:endParaRPr lang="en-US" sz="1400" dirty="0"/>
          </a:p>
        </p:txBody>
      </p:sp>
      <p:sp>
        <p:nvSpPr>
          <p:cNvPr id="10" name="Text 8"/>
          <p:cNvSpPr/>
          <p:nvPr/>
        </p:nvSpPr>
        <p:spPr>
          <a:xfrm>
            <a:off x="777240" y="4663440"/>
            <a:ext cx="3182112" cy="228600"/>
          </a:xfrm>
          <a:prstGeom prst="rect">
            <a:avLst/>
          </a:prstGeom>
          <a:noFill/>
          <a:ln/>
        </p:spPr>
        <p:txBody>
          <a:bodyPr wrap="square" rtlCol="0" anchor="ctr"/>
          <a:lstStyle/>
          <a:p>
            <a:pPr marL="0" indent="0">
              <a:buNone/>
            </a:pPr>
            <a:r>
              <a:rPr lang="en-US" sz="1400" b="1" kern="0" spc="100" dirty="0">
                <a:solidFill>
                  <a:srgbClr val="B3261E"/>
                </a:solidFill>
                <a:latin typeface="Calibri" pitchFamily="34" charset="0"/>
                <a:ea typeface="Calibri" pitchFamily="34" charset="-122"/>
                <a:cs typeface="Calibri" pitchFamily="34" charset="-120"/>
              </a:rPr>
              <a:t>DISADVANTAGE</a:t>
            </a:r>
            <a:endParaRPr lang="en-US" sz="1400" dirty="0"/>
          </a:p>
        </p:txBody>
      </p:sp>
      <p:sp>
        <p:nvSpPr>
          <p:cNvPr id="11" name="Text 9"/>
          <p:cNvSpPr/>
          <p:nvPr/>
        </p:nvSpPr>
        <p:spPr>
          <a:xfrm>
            <a:off x="777240" y="4892040"/>
            <a:ext cx="3182112" cy="82296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Solves nothing; queues, waste and lost time continue</a:t>
            </a:r>
            <a:endParaRPr lang="en-US" sz="1400" dirty="0"/>
          </a:p>
        </p:txBody>
      </p:sp>
      <p:sp>
        <p:nvSpPr>
          <p:cNvPr id="12" name="Shape 10"/>
          <p:cNvSpPr/>
          <p:nvPr/>
        </p:nvSpPr>
        <p:spPr>
          <a:xfrm>
            <a:off x="4357116" y="1920240"/>
            <a:ext cx="3639312" cy="4297680"/>
          </a:xfrm>
          <a:prstGeom prst="roundRect">
            <a:avLst>
              <a:gd name="adj" fmla="val 2261"/>
            </a:avLst>
          </a:prstGeom>
          <a:solidFill>
            <a:srgbClr val="F4F6FB"/>
          </a:solidFill>
          <a:ln w="12700">
            <a:solidFill>
              <a:srgbClr val="E3E7F0"/>
            </a:solidFill>
            <a:prstDash val="solid"/>
          </a:ln>
        </p:spPr>
        <p:txBody>
          <a:bodyPr/>
          <a:lstStyle/>
          <a:p>
            <a:endParaRPr lang="en-US"/>
          </a:p>
        </p:txBody>
      </p:sp>
      <p:sp>
        <p:nvSpPr>
          <p:cNvPr id="13" name="Text 11"/>
          <p:cNvSpPr/>
          <p:nvPr/>
        </p:nvSpPr>
        <p:spPr>
          <a:xfrm>
            <a:off x="4585716" y="2148840"/>
            <a:ext cx="3182112" cy="274320"/>
          </a:xfrm>
          <a:prstGeom prst="rect">
            <a:avLst/>
          </a:prstGeom>
          <a:noFill/>
          <a:ln/>
        </p:spPr>
        <p:txBody>
          <a:bodyPr wrap="square" rtlCol="0" anchor="ctr"/>
          <a:lstStyle/>
          <a:p>
            <a:pPr marL="0" indent="0">
              <a:buNone/>
            </a:pPr>
            <a:r>
              <a:rPr lang="en-US" sz="1400" b="1" kern="0" spc="100" dirty="0">
                <a:solidFill>
                  <a:srgbClr val="6B7280"/>
                </a:solidFill>
                <a:latin typeface="Calibri" pitchFamily="34" charset="0"/>
                <a:ea typeface="Calibri" pitchFamily="34" charset="-122"/>
                <a:cs typeface="Calibri" pitchFamily="34" charset="-120"/>
              </a:rPr>
              <a:t>OPTION 2</a:t>
            </a:r>
            <a:endParaRPr lang="en-US" sz="1400" dirty="0"/>
          </a:p>
        </p:txBody>
      </p:sp>
      <p:sp>
        <p:nvSpPr>
          <p:cNvPr id="14" name="Text 12"/>
          <p:cNvSpPr/>
          <p:nvPr/>
        </p:nvSpPr>
        <p:spPr>
          <a:xfrm>
            <a:off x="4585716" y="2404872"/>
            <a:ext cx="3182112" cy="594360"/>
          </a:xfrm>
          <a:prstGeom prst="rect">
            <a:avLst/>
          </a:prstGeom>
          <a:noFill/>
          <a:ln/>
        </p:spPr>
        <p:txBody>
          <a:bodyPr wrap="square" rtlCol="0" anchor="t"/>
          <a:lstStyle/>
          <a:p>
            <a:r>
              <a:rPr lang="en-GB" sz="1650" b="1" dirty="0">
                <a:latin typeface="Cambria" panose="02040503050406030204" pitchFamily="18" charset="0"/>
                <a:ea typeface="Cambria" panose="02040503050406030204" pitchFamily="18" charset="0"/>
              </a:rPr>
              <a:t>Stagger Lunch Times</a:t>
            </a:r>
          </a:p>
        </p:txBody>
      </p:sp>
      <p:sp>
        <p:nvSpPr>
          <p:cNvPr id="15" name="Text 13"/>
          <p:cNvSpPr/>
          <p:nvPr/>
        </p:nvSpPr>
        <p:spPr>
          <a:xfrm>
            <a:off x="4585716" y="2971800"/>
            <a:ext cx="3182112" cy="594360"/>
          </a:xfrm>
          <a:prstGeom prst="rect">
            <a:avLst/>
          </a:prstGeom>
          <a:noFill/>
          <a:ln/>
        </p:spPr>
        <p:txBody>
          <a:bodyPr wrap="square" rtlCol="0" anchor="t"/>
          <a:lstStyle/>
          <a:p>
            <a:r>
              <a:rPr lang="en-GB" sz="1400" dirty="0"/>
              <a:t>Process change only</a:t>
            </a:r>
          </a:p>
        </p:txBody>
      </p:sp>
      <p:sp>
        <p:nvSpPr>
          <p:cNvPr id="16" name="Text 14"/>
          <p:cNvSpPr/>
          <p:nvPr/>
        </p:nvSpPr>
        <p:spPr>
          <a:xfrm>
            <a:off x="4585716" y="3657600"/>
            <a:ext cx="3182112" cy="228600"/>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ADVANTAGE</a:t>
            </a:r>
            <a:endParaRPr lang="en-US" sz="1400" dirty="0"/>
          </a:p>
        </p:txBody>
      </p:sp>
      <p:sp>
        <p:nvSpPr>
          <p:cNvPr id="17" name="Text 15"/>
          <p:cNvSpPr/>
          <p:nvPr/>
        </p:nvSpPr>
        <p:spPr>
          <a:xfrm>
            <a:off x="4585716" y="3886200"/>
            <a:ext cx="3182112" cy="685800"/>
          </a:xfrm>
          <a:prstGeom prst="rect">
            <a:avLst/>
          </a:prstGeom>
          <a:noFill/>
          <a:ln/>
        </p:spPr>
        <p:txBody>
          <a:bodyPr wrap="square" rtlCol="0" anchor="t"/>
          <a:lstStyle/>
          <a:p>
            <a:r>
              <a:rPr lang="en-GB" sz="1400" dirty="0"/>
              <a:t>No/low cost</a:t>
            </a:r>
          </a:p>
        </p:txBody>
      </p:sp>
      <p:sp>
        <p:nvSpPr>
          <p:cNvPr id="18" name="Text 16"/>
          <p:cNvSpPr/>
          <p:nvPr/>
        </p:nvSpPr>
        <p:spPr>
          <a:xfrm>
            <a:off x="4585716" y="4663440"/>
            <a:ext cx="3182112" cy="228600"/>
          </a:xfrm>
          <a:prstGeom prst="rect">
            <a:avLst/>
          </a:prstGeom>
          <a:noFill/>
          <a:ln/>
        </p:spPr>
        <p:txBody>
          <a:bodyPr wrap="square" rtlCol="0" anchor="ctr"/>
          <a:lstStyle/>
          <a:p>
            <a:pPr marL="0" indent="0">
              <a:buNone/>
            </a:pPr>
            <a:r>
              <a:rPr lang="en-US" sz="1400" b="1" kern="0" spc="100" dirty="0">
                <a:solidFill>
                  <a:srgbClr val="B3261E"/>
                </a:solidFill>
                <a:latin typeface="Calibri" pitchFamily="34" charset="0"/>
                <a:ea typeface="Calibri" pitchFamily="34" charset="-122"/>
                <a:cs typeface="Calibri" pitchFamily="34" charset="-120"/>
              </a:rPr>
              <a:t>DISADVANTAGE</a:t>
            </a:r>
            <a:endParaRPr lang="en-US" sz="1400" dirty="0"/>
          </a:p>
        </p:txBody>
      </p:sp>
      <p:sp>
        <p:nvSpPr>
          <p:cNvPr id="19" name="Text 17"/>
          <p:cNvSpPr/>
          <p:nvPr/>
        </p:nvSpPr>
        <p:spPr>
          <a:xfrm>
            <a:off x="4585716" y="4892040"/>
            <a:ext cx="3182112" cy="822960"/>
          </a:xfrm>
          <a:prstGeom prst="rect">
            <a:avLst/>
          </a:prstGeom>
          <a:noFill/>
          <a:ln/>
        </p:spPr>
        <p:txBody>
          <a:bodyPr wrap="square" rtlCol="0" anchor="t"/>
          <a:lstStyle/>
          <a:p>
            <a:r>
              <a:rPr lang="en-GB" sz="1400" dirty="0"/>
              <a:t>No automation, hard to enforce</a:t>
            </a:r>
          </a:p>
          <a:p>
            <a:endParaRPr lang="en-GB" sz="1400" dirty="0"/>
          </a:p>
        </p:txBody>
      </p:sp>
      <p:sp>
        <p:nvSpPr>
          <p:cNvPr id="20" name="Shape 18"/>
          <p:cNvSpPr/>
          <p:nvPr/>
        </p:nvSpPr>
        <p:spPr>
          <a:xfrm>
            <a:off x="8165592" y="1920240"/>
            <a:ext cx="3639312" cy="4297680"/>
          </a:xfrm>
          <a:prstGeom prst="roundRect">
            <a:avLst>
              <a:gd name="adj" fmla="val 2261"/>
            </a:avLst>
          </a:prstGeom>
          <a:solidFill>
            <a:srgbClr val="1E2761"/>
          </a:solidFill>
          <a:ln/>
        </p:spPr>
        <p:txBody>
          <a:bodyPr/>
          <a:lstStyle/>
          <a:p>
            <a:endParaRPr lang="en-US"/>
          </a:p>
        </p:txBody>
      </p:sp>
      <p:sp>
        <p:nvSpPr>
          <p:cNvPr id="21" name="Shape 19"/>
          <p:cNvSpPr/>
          <p:nvPr/>
        </p:nvSpPr>
        <p:spPr>
          <a:xfrm>
            <a:off x="8394191" y="2121408"/>
            <a:ext cx="2224045" cy="329184"/>
          </a:xfrm>
          <a:prstGeom prst="roundRect">
            <a:avLst>
              <a:gd name="adj" fmla="val 50000"/>
            </a:avLst>
          </a:prstGeom>
          <a:solidFill>
            <a:srgbClr val="E8A33D"/>
          </a:solidFill>
          <a:ln/>
        </p:spPr>
        <p:txBody>
          <a:bodyPr/>
          <a:lstStyle/>
          <a:p>
            <a:endParaRPr lang="en-US"/>
          </a:p>
        </p:txBody>
      </p:sp>
      <p:sp>
        <p:nvSpPr>
          <p:cNvPr id="22" name="Text 20"/>
          <p:cNvSpPr/>
          <p:nvPr/>
        </p:nvSpPr>
        <p:spPr>
          <a:xfrm>
            <a:off x="8394191" y="2121408"/>
            <a:ext cx="2382665" cy="365760"/>
          </a:xfrm>
          <a:prstGeom prst="rect">
            <a:avLst/>
          </a:prstGeom>
          <a:noFill/>
          <a:ln/>
        </p:spPr>
        <p:txBody>
          <a:bodyPr wrap="square" rtlCol="0" anchor="ctr"/>
          <a:lstStyle/>
          <a:p>
            <a:pPr marL="0" indent="0" algn="ctr">
              <a:buNone/>
            </a:pPr>
            <a:r>
              <a:rPr lang="en-US" sz="1600" b="1" kern="0" spc="50" dirty="0">
                <a:solidFill>
                  <a:srgbClr val="141B47"/>
                </a:solidFill>
                <a:latin typeface="Calibri" pitchFamily="34" charset="0"/>
                <a:ea typeface="Calibri" pitchFamily="34" charset="-122"/>
                <a:cs typeface="Calibri" pitchFamily="34" charset="-120"/>
              </a:rPr>
              <a:t>RECOMMENDED</a:t>
            </a:r>
            <a:endParaRPr lang="en-US" sz="1600" dirty="0"/>
          </a:p>
        </p:txBody>
      </p:sp>
      <p:sp>
        <p:nvSpPr>
          <p:cNvPr id="23" name="Text 21"/>
          <p:cNvSpPr/>
          <p:nvPr/>
        </p:nvSpPr>
        <p:spPr>
          <a:xfrm>
            <a:off x="8394192" y="2542032"/>
            <a:ext cx="3182112" cy="274320"/>
          </a:xfrm>
          <a:prstGeom prst="rect">
            <a:avLst/>
          </a:prstGeom>
          <a:noFill/>
          <a:ln/>
        </p:spPr>
        <p:txBody>
          <a:bodyPr wrap="square" rtlCol="0" anchor="ctr"/>
          <a:lstStyle/>
          <a:p>
            <a:pPr marL="0" indent="0">
              <a:buNone/>
            </a:pPr>
            <a:r>
              <a:rPr lang="en-US" sz="1400" b="1" kern="0" spc="100" dirty="0">
                <a:solidFill>
                  <a:srgbClr val="CADCFC"/>
                </a:solidFill>
                <a:latin typeface="Calibri" pitchFamily="34" charset="0"/>
                <a:ea typeface="Calibri" pitchFamily="34" charset="-122"/>
                <a:cs typeface="Calibri" pitchFamily="34" charset="-120"/>
              </a:rPr>
              <a:t>OPTION 3</a:t>
            </a:r>
            <a:endParaRPr lang="en-US" sz="1400" dirty="0"/>
          </a:p>
        </p:txBody>
      </p:sp>
      <p:sp>
        <p:nvSpPr>
          <p:cNvPr id="24" name="Text 22"/>
          <p:cNvSpPr/>
          <p:nvPr/>
        </p:nvSpPr>
        <p:spPr>
          <a:xfrm>
            <a:off x="8394192" y="2798064"/>
            <a:ext cx="3182112" cy="594360"/>
          </a:xfrm>
          <a:prstGeom prst="rect">
            <a:avLst/>
          </a:prstGeom>
          <a:noFill/>
          <a:ln/>
        </p:spPr>
        <p:txBody>
          <a:bodyPr wrap="square" rtlCol="0" anchor="t"/>
          <a:lstStyle/>
          <a:p>
            <a:pPr marL="0" indent="0">
              <a:buNone/>
            </a:pPr>
            <a:r>
              <a:rPr lang="en-US" sz="1650" b="1" dirty="0">
                <a:solidFill>
                  <a:srgbClr val="FFFFFF"/>
                </a:solidFill>
                <a:latin typeface="Cambria" pitchFamily="34" charset="0"/>
                <a:ea typeface="Cambria" pitchFamily="34" charset="-122"/>
                <a:cs typeface="Cambria" pitchFamily="34" charset="-120"/>
              </a:rPr>
              <a:t>Canteen Ordering System</a:t>
            </a:r>
            <a:endParaRPr lang="en-US" sz="1650" dirty="0"/>
          </a:p>
        </p:txBody>
      </p:sp>
      <p:sp>
        <p:nvSpPr>
          <p:cNvPr id="25" name="Text 23"/>
          <p:cNvSpPr/>
          <p:nvPr/>
        </p:nvSpPr>
        <p:spPr>
          <a:xfrm>
            <a:off x="8394192" y="3364992"/>
            <a:ext cx="3182112" cy="594360"/>
          </a:xfrm>
          <a:prstGeom prst="rect">
            <a:avLst/>
          </a:prstGeom>
          <a:noFill/>
          <a:ln/>
        </p:spPr>
        <p:txBody>
          <a:bodyPr wrap="square" rtlCol="0" anchor="t"/>
          <a:lstStyle/>
          <a:p>
            <a:pPr marL="0" indent="0">
              <a:buNone/>
            </a:pPr>
            <a:r>
              <a:rPr lang="en-US" sz="1400" i="1" dirty="0">
                <a:solidFill>
                  <a:srgbClr val="CADCFC"/>
                </a:solidFill>
                <a:latin typeface="Calibri" pitchFamily="34" charset="0"/>
                <a:ea typeface="Calibri" pitchFamily="34" charset="-122"/>
                <a:cs typeface="Calibri" pitchFamily="34" charset="-120"/>
              </a:rPr>
              <a:t>Order online, receive lunch at the workstation.</a:t>
            </a:r>
            <a:endParaRPr lang="en-US" sz="1400" dirty="0"/>
          </a:p>
        </p:txBody>
      </p:sp>
      <p:sp>
        <p:nvSpPr>
          <p:cNvPr id="26" name="Text 24"/>
          <p:cNvSpPr/>
          <p:nvPr/>
        </p:nvSpPr>
        <p:spPr>
          <a:xfrm>
            <a:off x="8394192" y="4069080"/>
            <a:ext cx="3182112" cy="228600"/>
          </a:xfrm>
          <a:prstGeom prst="rect">
            <a:avLst/>
          </a:prstGeom>
          <a:noFill/>
          <a:ln/>
        </p:spPr>
        <p:txBody>
          <a:bodyPr wrap="square" rtlCol="0" anchor="ctr"/>
          <a:lstStyle/>
          <a:p>
            <a:pPr marL="0" indent="0">
              <a:buNone/>
            </a:pPr>
            <a:r>
              <a:rPr lang="en-US" sz="1400" b="1" kern="0" spc="100" dirty="0">
                <a:solidFill>
                  <a:srgbClr val="E8A33D"/>
                </a:solidFill>
                <a:latin typeface="Calibri" pitchFamily="34" charset="0"/>
                <a:ea typeface="Calibri" pitchFamily="34" charset="-122"/>
                <a:cs typeface="Calibri" pitchFamily="34" charset="-120"/>
              </a:rPr>
              <a:t>ADVANTAGE</a:t>
            </a:r>
            <a:endParaRPr lang="en-US" sz="1400" dirty="0"/>
          </a:p>
        </p:txBody>
      </p:sp>
      <p:sp>
        <p:nvSpPr>
          <p:cNvPr id="27" name="Text 25"/>
          <p:cNvSpPr/>
          <p:nvPr/>
        </p:nvSpPr>
        <p:spPr>
          <a:xfrm>
            <a:off x="8394192" y="4297680"/>
            <a:ext cx="3182112" cy="68580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Cuts congestion, saves time, improves planning, cuts waste</a:t>
            </a:r>
            <a:endParaRPr lang="en-US" sz="1400" dirty="0"/>
          </a:p>
        </p:txBody>
      </p:sp>
      <p:sp>
        <p:nvSpPr>
          <p:cNvPr id="28" name="Text 26"/>
          <p:cNvSpPr/>
          <p:nvPr/>
        </p:nvSpPr>
        <p:spPr>
          <a:xfrm>
            <a:off x="8394192" y="5074920"/>
            <a:ext cx="3182112" cy="228600"/>
          </a:xfrm>
          <a:prstGeom prst="rect">
            <a:avLst/>
          </a:prstGeom>
          <a:noFill/>
          <a:ln/>
        </p:spPr>
        <p:txBody>
          <a:bodyPr wrap="square" rtlCol="0" anchor="ctr"/>
          <a:lstStyle/>
          <a:p>
            <a:pPr marL="0" indent="0">
              <a:buNone/>
            </a:pPr>
            <a:r>
              <a:rPr lang="en-US" sz="1400" b="1" kern="0" spc="100" dirty="0">
                <a:solidFill>
                  <a:srgbClr val="F2C29B"/>
                </a:solidFill>
                <a:latin typeface="Calibri" pitchFamily="34" charset="0"/>
                <a:ea typeface="Calibri" pitchFamily="34" charset="-122"/>
                <a:cs typeface="Calibri" pitchFamily="34" charset="-120"/>
              </a:rPr>
              <a:t>DISADVANTAGE</a:t>
            </a:r>
            <a:endParaRPr lang="en-US" sz="1400" dirty="0"/>
          </a:p>
        </p:txBody>
      </p:sp>
      <p:sp>
        <p:nvSpPr>
          <p:cNvPr id="29" name="Text 27"/>
          <p:cNvSpPr/>
          <p:nvPr/>
        </p:nvSpPr>
        <p:spPr>
          <a:xfrm>
            <a:off x="8394192" y="5303520"/>
            <a:ext cx="3182112" cy="82296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Needs development, training and change management</a:t>
            </a:r>
            <a:endParaRPr lang="en-US" sz="1400" dirty="0"/>
          </a:p>
        </p:txBody>
      </p:sp>
      <p:sp>
        <p:nvSpPr>
          <p:cNvPr id="30" name="Text 28"/>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31" name="Text 29"/>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a:extLst>
            <a:ext uri="{FF2B5EF4-FFF2-40B4-BE49-F238E27FC236}">
              <a16:creationId xmlns:a16="http://schemas.microsoft.com/office/drawing/2014/main" id="{04D1BF8B-8BD2-6BD9-C856-32025E52B10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5D0643-D0C6-8F9B-99B1-18FE97A279C7}"/>
              </a:ext>
            </a:extLst>
          </p:cNvPr>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02.9 · FINANCIAL ANALYSIS</a:t>
            </a:r>
            <a:endParaRPr lang="en-US" sz="1200" dirty="0"/>
          </a:p>
        </p:txBody>
      </p:sp>
      <p:sp>
        <p:nvSpPr>
          <p:cNvPr id="4" name="Shape 2">
            <a:extLst>
              <a:ext uri="{FF2B5EF4-FFF2-40B4-BE49-F238E27FC236}">
                <a16:creationId xmlns:a16="http://schemas.microsoft.com/office/drawing/2014/main" id="{845F1645-C0E4-06AF-3EEA-A70692E290AD}"/>
              </a:ext>
            </a:extLst>
          </p:cNvPr>
          <p:cNvSpPr/>
          <p:nvPr/>
        </p:nvSpPr>
        <p:spPr>
          <a:xfrm>
            <a:off x="548640" y="1033272"/>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5" name="Text 3">
            <a:extLst>
              <a:ext uri="{FF2B5EF4-FFF2-40B4-BE49-F238E27FC236}">
                <a16:creationId xmlns:a16="http://schemas.microsoft.com/office/drawing/2014/main" id="{41CAFDB2-5267-42D6-1675-C93DC76A9E9F}"/>
              </a:ext>
            </a:extLst>
          </p:cNvPr>
          <p:cNvSpPr/>
          <p:nvPr/>
        </p:nvSpPr>
        <p:spPr>
          <a:xfrm>
            <a:off x="731520"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£140,000</a:t>
            </a:r>
            <a:endParaRPr lang="en-US" sz="2400" dirty="0"/>
          </a:p>
        </p:txBody>
      </p:sp>
      <p:sp>
        <p:nvSpPr>
          <p:cNvPr id="6" name="Text 4">
            <a:extLst>
              <a:ext uri="{FF2B5EF4-FFF2-40B4-BE49-F238E27FC236}">
                <a16:creationId xmlns:a16="http://schemas.microsoft.com/office/drawing/2014/main" id="{69C541E2-CAD0-81FE-BEEE-BF0C0D1DF67F}"/>
              </a:ext>
            </a:extLst>
          </p:cNvPr>
          <p:cNvSpPr/>
          <p:nvPr/>
        </p:nvSpPr>
        <p:spPr>
          <a:xfrm>
            <a:off x="731520" y="1216152"/>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Total Project Cost</a:t>
            </a:r>
            <a:endParaRPr lang="en-US" sz="1100" dirty="0"/>
          </a:p>
        </p:txBody>
      </p:sp>
      <p:sp>
        <p:nvSpPr>
          <p:cNvPr id="7" name="Shape 5">
            <a:extLst>
              <a:ext uri="{FF2B5EF4-FFF2-40B4-BE49-F238E27FC236}">
                <a16:creationId xmlns:a16="http://schemas.microsoft.com/office/drawing/2014/main" id="{FDC663A5-2175-0C37-AF4B-2B65A41E19AF}"/>
              </a:ext>
            </a:extLst>
          </p:cNvPr>
          <p:cNvSpPr/>
          <p:nvPr/>
        </p:nvSpPr>
        <p:spPr>
          <a:xfrm>
            <a:off x="3401568" y="1033272"/>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8" name="Text 6">
            <a:extLst>
              <a:ext uri="{FF2B5EF4-FFF2-40B4-BE49-F238E27FC236}">
                <a16:creationId xmlns:a16="http://schemas.microsoft.com/office/drawing/2014/main" id="{09177EDA-6B06-768B-1915-F35BDAC22D91}"/>
              </a:ext>
            </a:extLst>
          </p:cNvPr>
          <p:cNvSpPr/>
          <p:nvPr/>
        </p:nvSpPr>
        <p:spPr>
          <a:xfrm>
            <a:off x="3593592"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£1.68M</a:t>
            </a:r>
            <a:endParaRPr lang="en-US" sz="2400" dirty="0"/>
          </a:p>
        </p:txBody>
      </p:sp>
      <p:sp>
        <p:nvSpPr>
          <p:cNvPr id="9" name="Text 7">
            <a:extLst>
              <a:ext uri="{FF2B5EF4-FFF2-40B4-BE49-F238E27FC236}">
                <a16:creationId xmlns:a16="http://schemas.microsoft.com/office/drawing/2014/main" id="{CC41BA8E-4553-6AC5-ED88-13530E4291A0}"/>
              </a:ext>
            </a:extLst>
          </p:cNvPr>
          <p:cNvSpPr/>
          <p:nvPr/>
        </p:nvSpPr>
        <p:spPr>
          <a:xfrm>
            <a:off x="3611876" y="1298075"/>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Estimated Annual Benefit</a:t>
            </a:r>
            <a:endParaRPr lang="en-US" sz="1100" dirty="0"/>
          </a:p>
        </p:txBody>
      </p:sp>
      <p:sp>
        <p:nvSpPr>
          <p:cNvPr id="10" name="Shape 8">
            <a:extLst>
              <a:ext uri="{FF2B5EF4-FFF2-40B4-BE49-F238E27FC236}">
                <a16:creationId xmlns:a16="http://schemas.microsoft.com/office/drawing/2014/main" id="{64479D93-ADAF-0696-A174-AB139B99FA82}"/>
              </a:ext>
            </a:extLst>
          </p:cNvPr>
          <p:cNvSpPr/>
          <p:nvPr/>
        </p:nvSpPr>
        <p:spPr>
          <a:xfrm>
            <a:off x="6190486" y="1033272"/>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11" name="Text 9">
            <a:extLst>
              <a:ext uri="{FF2B5EF4-FFF2-40B4-BE49-F238E27FC236}">
                <a16:creationId xmlns:a16="http://schemas.microsoft.com/office/drawing/2014/main" id="{BEBF8E2D-2F21-F638-6B20-C889860A859A}"/>
              </a:ext>
            </a:extLst>
          </p:cNvPr>
          <p:cNvSpPr/>
          <p:nvPr/>
        </p:nvSpPr>
        <p:spPr>
          <a:xfrm>
            <a:off x="6455664"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 month</a:t>
            </a:r>
            <a:endParaRPr lang="en-US" sz="2400" dirty="0"/>
          </a:p>
        </p:txBody>
      </p:sp>
      <p:sp>
        <p:nvSpPr>
          <p:cNvPr id="12" name="Text 10">
            <a:extLst>
              <a:ext uri="{FF2B5EF4-FFF2-40B4-BE49-F238E27FC236}">
                <a16:creationId xmlns:a16="http://schemas.microsoft.com/office/drawing/2014/main" id="{C0BF2194-EC4A-F6DE-D1CC-8DCDD7773ED0}"/>
              </a:ext>
            </a:extLst>
          </p:cNvPr>
          <p:cNvSpPr/>
          <p:nvPr/>
        </p:nvSpPr>
        <p:spPr>
          <a:xfrm>
            <a:off x="6373366" y="1298075"/>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Payback Period</a:t>
            </a:r>
            <a:endParaRPr lang="en-US" sz="1100" dirty="0"/>
          </a:p>
        </p:txBody>
      </p:sp>
      <p:sp>
        <p:nvSpPr>
          <p:cNvPr id="13" name="Shape 11">
            <a:extLst>
              <a:ext uri="{FF2B5EF4-FFF2-40B4-BE49-F238E27FC236}">
                <a16:creationId xmlns:a16="http://schemas.microsoft.com/office/drawing/2014/main" id="{1BBF1F28-EDA3-C71A-A0B9-8A7EDF4FABFD}"/>
              </a:ext>
            </a:extLst>
          </p:cNvPr>
          <p:cNvSpPr/>
          <p:nvPr/>
        </p:nvSpPr>
        <p:spPr>
          <a:xfrm>
            <a:off x="9153144" y="1019276"/>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14" name="Text 12">
            <a:extLst>
              <a:ext uri="{FF2B5EF4-FFF2-40B4-BE49-F238E27FC236}">
                <a16:creationId xmlns:a16="http://schemas.microsoft.com/office/drawing/2014/main" id="{F7461851-C44E-CDAB-C17B-6AF96C314849}"/>
              </a:ext>
            </a:extLst>
          </p:cNvPr>
          <p:cNvSpPr/>
          <p:nvPr/>
        </p:nvSpPr>
        <p:spPr>
          <a:xfrm>
            <a:off x="9317736"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1,100%</a:t>
            </a:r>
            <a:endParaRPr lang="en-US" sz="2400" dirty="0"/>
          </a:p>
        </p:txBody>
      </p:sp>
      <p:sp>
        <p:nvSpPr>
          <p:cNvPr id="15" name="Text 13">
            <a:extLst>
              <a:ext uri="{FF2B5EF4-FFF2-40B4-BE49-F238E27FC236}">
                <a16:creationId xmlns:a16="http://schemas.microsoft.com/office/drawing/2014/main" id="{F53799C7-898F-816F-A10F-2A411C86003C}"/>
              </a:ext>
            </a:extLst>
          </p:cNvPr>
          <p:cNvSpPr/>
          <p:nvPr/>
        </p:nvSpPr>
        <p:spPr>
          <a:xfrm>
            <a:off x="9311640" y="1210927"/>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Return on Investment</a:t>
            </a:r>
            <a:endParaRPr lang="en-US" sz="1100" dirty="0"/>
          </a:p>
        </p:txBody>
      </p:sp>
      <p:sp>
        <p:nvSpPr>
          <p:cNvPr id="20" name="Text 16">
            <a:extLst>
              <a:ext uri="{FF2B5EF4-FFF2-40B4-BE49-F238E27FC236}">
                <a16:creationId xmlns:a16="http://schemas.microsoft.com/office/drawing/2014/main" id="{54120E51-0211-C83E-75E1-2BA9CF39FDF4}"/>
              </a:ext>
            </a:extLst>
          </p:cNvPr>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8892C2"/>
                </a:solidFill>
                <a:latin typeface="Calibri" pitchFamily="34" charset="0"/>
                <a:ea typeface="Calibri" pitchFamily="34" charset="-122"/>
                <a:cs typeface="Calibri" pitchFamily="34" charset="-120"/>
              </a:rPr>
              <a:t>CANTEEN ORDERING SYSTEM · PROJECT POLARIS</a:t>
            </a:r>
            <a:endParaRPr lang="en-US" sz="900" dirty="0"/>
          </a:p>
        </p:txBody>
      </p:sp>
      <p:sp>
        <p:nvSpPr>
          <p:cNvPr id="21" name="Text 17">
            <a:extLst>
              <a:ext uri="{FF2B5EF4-FFF2-40B4-BE49-F238E27FC236}">
                <a16:creationId xmlns:a16="http://schemas.microsoft.com/office/drawing/2014/main" id="{B318121D-1C8E-905C-2CED-98B11CB5F881}"/>
              </a:ext>
            </a:extLst>
          </p:cNvPr>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8892C2"/>
                </a:solidFill>
                <a:latin typeface="Calibri" pitchFamily="34" charset="0"/>
                <a:ea typeface="Calibri" pitchFamily="34" charset="-122"/>
                <a:cs typeface="Calibri" pitchFamily="34" charset="-120"/>
              </a:rPr>
              <a:t>6</a:t>
            </a:r>
            <a:endParaRPr lang="en-US" sz="900" dirty="0"/>
          </a:p>
        </p:txBody>
      </p:sp>
      <p:graphicFrame>
        <p:nvGraphicFramePr>
          <p:cNvPr id="22" name="Table 21">
            <a:extLst>
              <a:ext uri="{FF2B5EF4-FFF2-40B4-BE49-F238E27FC236}">
                <a16:creationId xmlns:a16="http://schemas.microsoft.com/office/drawing/2014/main" id="{9AD4E6BA-A779-80BD-F599-3F7E58F2F37E}"/>
              </a:ext>
            </a:extLst>
          </p:cNvPr>
          <p:cNvGraphicFramePr>
            <a:graphicFrameLocks noGrp="1"/>
          </p:cNvGraphicFramePr>
          <p:nvPr>
            <p:extLst>
              <p:ext uri="{D42A27DB-BD31-4B8C-83A1-F6EECF244321}">
                <p14:modId xmlns:p14="http://schemas.microsoft.com/office/powerpoint/2010/main" val="2673509828"/>
              </p:ext>
            </p:extLst>
          </p:nvPr>
        </p:nvGraphicFramePr>
        <p:xfrm>
          <a:off x="548640" y="2573756"/>
          <a:ext cx="6477311" cy="4245388"/>
        </p:xfrm>
        <a:graphic>
          <a:graphicData uri="http://schemas.openxmlformats.org/drawingml/2006/table">
            <a:tbl>
              <a:tblPr firstRow="1" firstCol="1" bandRow="1">
                <a:tableStyleId>{5C22544A-7EE6-4342-B048-85BDC9FD1C3A}</a:tableStyleId>
              </a:tblPr>
              <a:tblGrid>
                <a:gridCol w="2156055">
                  <a:extLst>
                    <a:ext uri="{9D8B030D-6E8A-4147-A177-3AD203B41FA5}">
                      <a16:colId xmlns:a16="http://schemas.microsoft.com/office/drawing/2014/main" val="1447420337"/>
                    </a:ext>
                  </a:extLst>
                </a:gridCol>
                <a:gridCol w="2156055">
                  <a:extLst>
                    <a:ext uri="{9D8B030D-6E8A-4147-A177-3AD203B41FA5}">
                      <a16:colId xmlns:a16="http://schemas.microsoft.com/office/drawing/2014/main" val="4145872663"/>
                    </a:ext>
                  </a:extLst>
                </a:gridCol>
                <a:gridCol w="2165201">
                  <a:extLst>
                    <a:ext uri="{9D8B030D-6E8A-4147-A177-3AD203B41FA5}">
                      <a16:colId xmlns:a16="http://schemas.microsoft.com/office/drawing/2014/main" val="2680649116"/>
                    </a:ext>
                  </a:extLst>
                </a:gridCol>
              </a:tblGrid>
              <a:tr h="259077">
                <a:tc>
                  <a:txBody>
                    <a:bodyPr/>
                    <a:lstStyle/>
                    <a:p>
                      <a:pPr marL="0" marR="0">
                        <a:lnSpc>
                          <a:spcPct val="115000"/>
                        </a:lnSpc>
                        <a:spcAft>
                          <a:spcPts val="1000"/>
                        </a:spcAft>
                        <a:buNone/>
                      </a:pPr>
                      <a:r>
                        <a:rPr lang="en-US" sz="800" dirty="0">
                          <a:effectLst/>
                        </a:rPr>
                        <a:t>Category</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Details</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Estimated Amount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136777313"/>
                  </a:ext>
                </a:extLst>
              </a:tr>
              <a:tr h="269024">
                <a:tc>
                  <a:txBody>
                    <a:bodyPr/>
                    <a:lstStyle/>
                    <a:p>
                      <a:pPr marL="0" marR="0">
                        <a:lnSpc>
                          <a:spcPct val="115000"/>
                        </a:lnSpc>
                        <a:spcAft>
                          <a:spcPts val="1000"/>
                        </a:spcAft>
                        <a:buNone/>
                      </a:pPr>
                      <a:r>
                        <a:rPr lang="en-US" sz="800">
                          <a:effectLst/>
                        </a:rPr>
                        <a:t>System Development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Design and development of the web-based canteen ordering system</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£60,000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990748968"/>
                  </a:ext>
                </a:extLst>
              </a:tr>
              <a:tr h="269024">
                <a:tc>
                  <a:txBody>
                    <a:bodyPr/>
                    <a:lstStyle/>
                    <a:p>
                      <a:pPr marL="0" marR="0">
                        <a:lnSpc>
                          <a:spcPct val="115000"/>
                        </a:lnSpc>
                        <a:spcAft>
                          <a:spcPts val="1000"/>
                        </a:spcAft>
                        <a:buNone/>
                      </a:pPr>
                      <a:r>
                        <a:rPr lang="en-US" sz="800">
                          <a:effectLst/>
                        </a:rPr>
                        <a:t>Testing and Deployment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User testing, bug fixing, deployment, and go-live support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£15,000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745551332"/>
                  </a:ext>
                </a:extLst>
              </a:tr>
              <a:tr h="269024">
                <a:tc>
                  <a:txBody>
                    <a:bodyPr/>
                    <a:lstStyle/>
                    <a:p>
                      <a:pPr marL="0" marR="0">
                        <a:lnSpc>
                          <a:spcPct val="115000"/>
                        </a:lnSpc>
                        <a:spcAft>
                          <a:spcPts val="1000"/>
                        </a:spcAft>
                        <a:buNone/>
                      </a:pPr>
                      <a:r>
                        <a:rPr lang="en-US" sz="800">
                          <a:effectLst/>
                        </a:rPr>
                        <a:t>Payroll Integration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Setup of payroll deduction report and integration with payroll process</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£20,000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208027088"/>
                  </a:ext>
                </a:extLst>
              </a:tr>
              <a:tr h="275329">
                <a:tc>
                  <a:txBody>
                    <a:bodyPr/>
                    <a:lstStyle/>
                    <a:p>
                      <a:pPr marL="0" marR="0">
                        <a:lnSpc>
                          <a:spcPct val="115000"/>
                        </a:lnSpc>
                        <a:spcAft>
                          <a:spcPts val="1000"/>
                        </a:spcAft>
                        <a:buNone/>
                      </a:pPr>
                      <a:r>
                        <a:rPr lang="en-US" sz="800">
                          <a:effectLst/>
                        </a:rPr>
                        <a:t>Training and Communication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Training for employees, canteen staff, delivery staff, and payroll team</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894056790"/>
                  </a:ext>
                </a:extLst>
              </a:tr>
              <a:tr h="269024">
                <a:tc>
                  <a:txBody>
                    <a:bodyPr/>
                    <a:lstStyle/>
                    <a:p>
                      <a:pPr marL="0" marR="0">
                        <a:lnSpc>
                          <a:spcPct val="115000"/>
                        </a:lnSpc>
                        <a:spcAft>
                          <a:spcPts val="1000"/>
                        </a:spcAft>
                        <a:buNone/>
                      </a:pPr>
                      <a:r>
                        <a:rPr lang="en-US" sz="800">
                          <a:effectLst/>
                        </a:rPr>
                        <a:t>Support and Maintenance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First-year support, issue resolution, and minor system improvements</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£20,000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996098379"/>
                  </a:ext>
                </a:extLst>
              </a:tr>
              <a:tr h="259077">
                <a:tc>
                  <a:txBody>
                    <a:bodyPr/>
                    <a:lstStyle/>
                    <a:p>
                      <a:pPr marL="0" marR="0">
                        <a:lnSpc>
                          <a:spcPct val="115000"/>
                        </a:lnSpc>
                        <a:spcAft>
                          <a:spcPts val="1000"/>
                        </a:spcAft>
                        <a:buNone/>
                      </a:pPr>
                      <a:r>
                        <a:rPr lang="en-US" sz="800">
                          <a:effectLst/>
                        </a:rPr>
                        <a:t>Contingency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Extra allowance for unexpected project needs</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£15,000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7522841"/>
                  </a:ext>
                </a:extLst>
              </a:tr>
              <a:tr h="269024">
                <a:tc>
                  <a:txBody>
                    <a:bodyPr/>
                    <a:lstStyle/>
                    <a:p>
                      <a:pPr marL="0" marR="0">
                        <a:lnSpc>
                          <a:spcPct val="115000"/>
                        </a:lnSpc>
                        <a:spcAft>
                          <a:spcPts val="1000"/>
                        </a:spcAft>
                        <a:buNone/>
                      </a:pPr>
                      <a:r>
                        <a:rPr lang="en-US" sz="800">
                          <a:effectLst/>
                        </a:rPr>
                        <a:t>Total Estimated Project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Total investment required to implement the system</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£140,000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124067494"/>
                  </a:ext>
                </a:extLst>
              </a:tr>
              <a:tr h="519110">
                <a:tc>
                  <a:txBody>
                    <a:bodyPr/>
                    <a:lstStyle/>
                    <a:p>
                      <a:pPr marL="0" marR="0">
                        <a:lnSpc>
                          <a:spcPct val="115000"/>
                        </a:lnSpc>
                        <a:spcAft>
                          <a:spcPts val="1000"/>
                        </a:spcAft>
                        <a:buNone/>
                      </a:pPr>
                      <a:r>
                        <a:rPr lang="en-US" sz="800">
                          <a:effectLst/>
                        </a:rPr>
                        <a:t>Productivity Saving</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900 employees saving about 20 minutes daily for 220 working days at £25 per hour</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£1,650,000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613298127"/>
                  </a:ext>
                </a:extLst>
              </a:tr>
              <a:tr h="535362">
                <a:tc>
                  <a:txBody>
                    <a:bodyPr/>
                    <a:lstStyle/>
                    <a:p>
                      <a:pPr marL="0" marR="0">
                        <a:lnSpc>
                          <a:spcPct val="115000"/>
                        </a:lnSpc>
                        <a:spcAft>
                          <a:spcPts val="1000"/>
                        </a:spcAft>
                        <a:buNone/>
                      </a:pPr>
                      <a:r>
                        <a:rPr lang="en-US" sz="800">
                          <a:effectLst/>
                        </a:rPr>
                        <a:t>Food Waste Reduction</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Estimated reduction in unsold or wasted meals due to better demand planning</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dirty="0">
                          <a:effectLst/>
                        </a:rPr>
                        <a:t>£30,000</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398506473"/>
                  </a:ext>
                </a:extLst>
              </a:tr>
              <a:tr h="259077">
                <a:tc>
                  <a:txBody>
                    <a:bodyPr/>
                    <a:lstStyle/>
                    <a:p>
                      <a:pPr marL="0" marR="0">
                        <a:lnSpc>
                          <a:spcPct val="115000"/>
                        </a:lnSpc>
                        <a:spcAft>
                          <a:spcPts val="1000"/>
                        </a:spcAft>
                        <a:buNone/>
                      </a:pPr>
                      <a:r>
                        <a:rPr lang="en-US" sz="800">
                          <a:effectLst/>
                        </a:rPr>
                        <a:t>Total Estimated Annual Benefit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Productivity saving plus food waste reduction</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£1,680,000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756699950"/>
                  </a:ext>
                </a:extLst>
              </a:tr>
              <a:tr h="259077">
                <a:tc>
                  <a:txBody>
                    <a:bodyPr/>
                    <a:lstStyle/>
                    <a:p>
                      <a:pPr marL="0" marR="0">
                        <a:lnSpc>
                          <a:spcPct val="115000"/>
                        </a:lnSpc>
                        <a:spcAft>
                          <a:spcPts val="1000"/>
                        </a:spcAft>
                        <a:buNone/>
                      </a:pPr>
                      <a:r>
                        <a:rPr lang="en-US" sz="800">
                          <a:effectLst/>
                        </a:rPr>
                        <a:t>Net Annual Benefit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Total annual benefit minus total project cost</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£1,540,000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85651482"/>
                  </a:ext>
                </a:extLst>
              </a:tr>
              <a:tr h="259077">
                <a:tc>
                  <a:txBody>
                    <a:bodyPr/>
                    <a:lstStyle/>
                    <a:p>
                      <a:pPr marL="0" marR="0">
                        <a:lnSpc>
                          <a:spcPct val="115000"/>
                        </a:lnSpc>
                        <a:spcAft>
                          <a:spcPts val="1000"/>
                        </a:spcAft>
                        <a:buNone/>
                      </a:pPr>
                      <a:r>
                        <a:rPr lang="en-US" sz="800">
                          <a:effectLst/>
                        </a:rPr>
                        <a:t>Payback Period</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£140,000 ÷ £1,680,000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0.08 years, about 1 month</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43071946"/>
                  </a:ext>
                </a:extLst>
              </a:tr>
              <a:tr h="259077">
                <a:tc>
                  <a:txBody>
                    <a:bodyPr/>
                    <a:lstStyle/>
                    <a:p>
                      <a:pPr marL="0" marR="0">
                        <a:lnSpc>
                          <a:spcPct val="115000"/>
                        </a:lnSpc>
                        <a:spcAft>
                          <a:spcPts val="1000"/>
                        </a:spcAft>
                        <a:buNone/>
                      </a:pPr>
                      <a:r>
                        <a:rPr lang="en-US" sz="800">
                          <a:effectLst/>
                        </a:rPr>
                        <a:t>Return on Investment, ROI</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a:effectLst/>
                        </a:rPr>
                        <a:t>(£1,680,000 - £140,000) ÷ £140,000 × 100</a:t>
                      </a:r>
                      <a:endParaRPr lang="en-US" sz="10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tc>
                  <a:txBody>
                    <a:bodyPr/>
                    <a:lstStyle/>
                    <a:p>
                      <a:pPr marL="0" marR="0">
                        <a:lnSpc>
                          <a:spcPct val="115000"/>
                        </a:lnSpc>
                        <a:spcAft>
                          <a:spcPts val="1000"/>
                        </a:spcAft>
                        <a:buNone/>
                      </a:pPr>
                      <a:r>
                        <a:rPr lang="en-US" sz="800" dirty="0">
                          <a:effectLst/>
                        </a:rPr>
                        <a:t>1,100%</a:t>
                      </a:r>
                      <a:endParaRPr lang="en-US" sz="10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964175025"/>
                  </a:ext>
                </a:extLst>
              </a:tr>
            </a:tbl>
          </a:graphicData>
        </a:graphic>
      </p:graphicFrame>
      <p:pic>
        <p:nvPicPr>
          <p:cNvPr id="16" name="Picture 15">
            <a:extLst>
              <a:ext uri="{FF2B5EF4-FFF2-40B4-BE49-F238E27FC236}">
                <a16:creationId xmlns:a16="http://schemas.microsoft.com/office/drawing/2014/main" id="{6460160C-8613-0BB8-E92B-415B8E5E7584}"/>
              </a:ext>
            </a:extLst>
          </p:cNvPr>
          <p:cNvPicPr>
            <a:picLocks noChangeAspect="1"/>
          </p:cNvPicPr>
          <p:nvPr/>
        </p:nvPicPr>
        <p:blipFill>
          <a:blip r:embed="rId3"/>
          <a:stretch>
            <a:fillRect/>
          </a:stretch>
        </p:blipFill>
        <p:spPr>
          <a:xfrm>
            <a:off x="7434009" y="2588500"/>
            <a:ext cx="4537576" cy="3954312"/>
          </a:xfrm>
          <a:prstGeom prst="rect">
            <a:avLst/>
          </a:prstGeom>
        </p:spPr>
      </p:pic>
    </p:spTree>
    <p:extLst>
      <p:ext uri="{BB962C8B-B14F-4D97-AF65-F5344CB8AC3E}">
        <p14:creationId xmlns:p14="http://schemas.microsoft.com/office/powerpoint/2010/main" val="302641468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02.9 · FINANCIAL ANALYSIS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A Business Case That Pays for Itself in a Month</a:t>
            </a:r>
            <a:endParaRPr lang="en-US" sz="2800" dirty="0"/>
          </a:p>
        </p:txBody>
      </p:sp>
      <p:sp>
        <p:nvSpPr>
          <p:cNvPr id="4" name="Shape 2"/>
          <p:cNvSpPr/>
          <p:nvPr/>
        </p:nvSpPr>
        <p:spPr>
          <a:xfrm>
            <a:off x="548640" y="1600200"/>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5" name="Text 3"/>
          <p:cNvSpPr/>
          <p:nvPr/>
        </p:nvSpPr>
        <p:spPr>
          <a:xfrm>
            <a:off x="731520"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£140,000</a:t>
            </a:r>
            <a:endParaRPr lang="en-US" sz="2400" dirty="0"/>
          </a:p>
        </p:txBody>
      </p:sp>
      <p:sp>
        <p:nvSpPr>
          <p:cNvPr id="6" name="Text 4"/>
          <p:cNvSpPr/>
          <p:nvPr/>
        </p:nvSpPr>
        <p:spPr>
          <a:xfrm>
            <a:off x="731520" y="2331720"/>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Total Project Cost</a:t>
            </a:r>
            <a:endParaRPr lang="en-US" sz="1100" dirty="0"/>
          </a:p>
        </p:txBody>
      </p:sp>
      <p:sp>
        <p:nvSpPr>
          <p:cNvPr id="7" name="Shape 5"/>
          <p:cNvSpPr/>
          <p:nvPr/>
        </p:nvSpPr>
        <p:spPr>
          <a:xfrm>
            <a:off x="3410712" y="1600200"/>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8" name="Text 6"/>
          <p:cNvSpPr/>
          <p:nvPr/>
        </p:nvSpPr>
        <p:spPr>
          <a:xfrm>
            <a:off x="3593592"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£1.68M</a:t>
            </a:r>
            <a:endParaRPr lang="en-US" sz="2400" dirty="0"/>
          </a:p>
        </p:txBody>
      </p:sp>
      <p:sp>
        <p:nvSpPr>
          <p:cNvPr id="9" name="Text 7"/>
          <p:cNvSpPr/>
          <p:nvPr/>
        </p:nvSpPr>
        <p:spPr>
          <a:xfrm>
            <a:off x="3593592" y="2331720"/>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Estimated Annual Benefit</a:t>
            </a:r>
            <a:endParaRPr lang="en-US" sz="1100" dirty="0"/>
          </a:p>
        </p:txBody>
      </p:sp>
      <p:sp>
        <p:nvSpPr>
          <p:cNvPr id="10" name="Shape 8"/>
          <p:cNvSpPr/>
          <p:nvPr/>
        </p:nvSpPr>
        <p:spPr>
          <a:xfrm>
            <a:off x="6272784" y="1600200"/>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11" name="Text 9"/>
          <p:cNvSpPr/>
          <p:nvPr/>
        </p:nvSpPr>
        <p:spPr>
          <a:xfrm>
            <a:off x="6455664"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 month</a:t>
            </a:r>
            <a:endParaRPr lang="en-US" sz="2400" dirty="0"/>
          </a:p>
        </p:txBody>
      </p:sp>
      <p:sp>
        <p:nvSpPr>
          <p:cNvPr id="12" name="Text 10"/>
          <p:cNvSpPr/>
          <p:nvPr/>
        </p:nvSpPr>
        <p:spPr>
          <a:xfrm>
            <a:off x="6455664" y="2331720"/>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Payback Period</a:t>
            </a:r>
            <a:endParaRPr lang="en-US" sz="1100" dirty="0"/>
          </a:p>
        </p:txBody>
      </p:sp>
      <p:sp>
        <p:nvSpPr>
          <p:cNvPr id="13" name="Shape 11"/>
          <p:cNvSpPr/>
          <p:nvPr/>
        </p:nvSpPr>
        <p:spPr>
          <a:xfrm>
            <a:off x="9134856" y="1600200"/>
            <a:ext cx="2697480" cy="1371600"/>
          </a:xfrm>
          <a:prstGeom prst="roundRect">
            <a:avLst>
              <a:gd name="adj" fmla="val 5333"/>
            </a:avLst>
          </a:prstGeom>
          <a:solidFill>
            <a:srgbClr val="141B47"/>
          </a:solidFill>
          <a:ln w="12700">
            <a:solidFill>
              <a:srgbClr val="34407A"/>
            </a:solidFill>
            <a:prstDash val="solid"/>
          </a:ln>
        </p:spPr>
        <p:txBody>
          <a:bodyPr/>
          <a:lstStyle/>
          <a:p>
            <a:endParaRPr lang="en-US"/>
          </a:p>
        </p:txBody>
      </p:sp>
      <p:sp>
        <p:nvSpPr>
          <p:cNvPr id="14" name="Text 12"/>
          <p:cNvSpPr/>
          <p:nvPr/>
        </p:nvSpPr>
        <p:spPr>
          <a:xfrm>
            <a:off x="9317736" y="1719072"/>
            <a:ext cx="2331720" cy="594360"/>
          </a:xfrm>
          <a:prstGeom prst="rect">
            <a:avLst/>
          </a:prstGeom>
          <a:noFill/>
          <a:ln/>
        </p:spPr>
        <p:txBody>
          <a:bodyPr wrap="square" rtlCol="0" anchor="ctr"/>
          <a:lstStyle/>
          <a:p>
            <a:pPr marL="0" indent="0">
              <a:buNone/>
            </a:pPr>
            <a:r>
              <a:rPr lang="en-US" sz="2400" b="1" dirty="0">
                <a:solidFill>
                  <a:srgbClr val="E8A33D"/>
                </a:solidFill>
                <a:latin typeface="Cambria" pitchFamily="34" charset="0"/>
                <a:ea typeface="Cambria" pitchFamily="34" charset="-122"/>
                <a:cs typeface="Cambria" pitchFamily="34" charset="-120"/>
              </a:rPr>
              <a:t>1,100%</a:t>
            </a:r>
            <a:endParaRPr lang="en-US" sz="2400" dirty="0"/>
          </a:p>
        </p:txBody>
      </p:sp>
      <p:sp>
        <p:nvSpPr>
          <p:cNvPr id="15" name="Text 13"/>
          <p:cNvSpPr/>
          <p:nvPr/>
        </p:nvSpPr>
        <p:spPr>
          <a:xfrm>
            <a:off x="9317736" y="2331720"/>
            <a:ext cx="2331720" cy="502920"/>
          </a:xfrm>
          <a:prstGeom prst="rect">
            <a:avLst/>
          </a:prstGeom>
          <a:noFill/>
          <a:ln/>
        </p:spPr>
        <p:txBody>
          <a:bodyPr wrap="square" rtlCol="0" anchor="t"/>
          <a:lstStyle/>
          <a:p>
            <a:pPr marL="0" indent="0">
              <a:buNone/>
            </a:pPr>
            <a:r>
              <a:rPr lang="en-US" sz="1100" dirty="0">
                <a:solidFill>
                  <a:srgbClr val="CADCFC"/>
                </a:solidFill>
                <a:latin typeface="Calibri" pitchFamily="34" charset="0"/>
                <a:ea typeface="Calibri" pitchFamily="34" charset="-122"/>
                <a:cs typeface="Calibri" pitchFamily="34" charset="-120"/>
              </a:rPr>
              <a:t>Return on Investment</a:t>
            </a:r>
            <a:endParaRPr lang="en-US" sz="1100" dirty="0"/>
          </a:p>
        </p:txBody>
      </p:sp>
      <p:sp>
        <p:nvSpPr>
          <p:cNvPr id="16" name="Text 14"/>
          <p:cNvSpPr/>
          <p:nvPr/>
        </p:nvSpPr>
        <p:spPr>
          <a:xfrm>
            <a:off x="548640" y="3246120"/>
            <a:ext cx="5029200" cy="274320"/>
          </a:xfrm>
          <a:prstGeom prst="rect">
            <a:avLst/>
          </a:prstGeom>
          <a:noFill/>
          <a:ln/>
        </p:spPr>
        <p:txBody>
          <a:bodyPr wrap="square"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COST BREAKDOWN</a:t>
            </a:r>
            <a:endParaRPr lang="en-US" sz="1100" dirty="0"/>
          </a:p>
        </p:txBody>
      </p:sp>
      <p:graphicFrame>
        <p:nvGraphicFramePr>
          <p:cNvPr id="17" name="Chart 0"/>
          <p:cNvGraphicFramePr/>
          <p:nvPr/>
        </p:nvGraphicFramePr>
        <p:xfrm>
          <a:off x="457200" y="3520440"/>
          <a:ext cx="5394960" cy="297180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 15"/>
          <p:cNvSpPr/>
          <p:nvPr/>
        </p:nvSpPr>
        <p:spPr>
          <a:xfrm>
            <a:off x="6263640" y="3246120"/>
            <a:ext cx="5394960" cy="274320"/>
          </a:xfrm>
          <a:prstGeom prst="rect">
            <a:avLst/>
          </a:prstGeom>
          <a:noFill/>
          <a:ln/>
        </p:spPr>
        <p:txBody>
          <a:bodyPr wrap="square" rtlCol="0" anchor="ctr"/>
          <a:lstStyle/>
          <a:p>
            <a:pPr marL="0" indent="0">
              <a:buNone/>
            </a:pPr>
            <a:r>
              <a:rPr lang="en-US" sz="1100" b="1" kern="0" spc="100" dirty="0">
                <a:solidFill>
                  <a:srgbClr val="CADCFC"/>
                </a:solidFill>
                <a:latin typeface="Calibri" pitchFamily="34" charset="0"/>
                <a:ea typeface="Calibri" pitchFamily="34" charset="-122"/>
                <a:cs typeface="Calibri" pitchFamily="34" charset="-120"/>
              </a:rPr>
              <a:t>ANNUAL BENEFIT COMPOSITION</a:t>
            </a:r>
            <a:endParaRPr lang="en-US" sz="1100" dirty="0"/>
          </a:p>
        </p:txBody>
      </p:sp>
      <p:graphicFrame>
        <p:nvGraphicFramePr>
          <p:cNvPr id="19" name="Chart 1"/>
          <p:cNvGraphicFramePr/>
          <p:nvPr/>
        </p:nvGraphicFramePr>
        <p:xfrm>
          <a:off x="6263640" y="3520440"/>
          <a:ext cx="5394960" cy="2880360"/>
        </p:xfrm>
        <a:graphic>
          <a:graphicData uri="http://schemas.openxmlformats.org/drawingml/2006/chart">
            <c:chart xmlns:c="http://schemas.openxmlformats.org/drawingml/2006/chart" xmlns:r="http://schemas.openxmlformats.org/officeDocument/2006/relationships" r:id="rId4"/>
          </a:graphicData>
        </a:graphic>
      </p:graphicFrame>
      <p:sp>
        <p:nvSpPr>
          <p:cNvPr id="20" name="Text 16"/>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8892C2"/>
                </a:solidFill>
                <a:latin typeface="Calibri" pitchFamily="34" charset="0"/>
                <a:ea typeface="Calibri" pitchFamily="34" charset="-122"/>
                <a:cs typeface="Calibri" pitchFamily="34" charset="-120"/>
              </a:rPr>
              <a:t>CANTEEN ORDERING SYSTEM · PROJECT POLARIS</a:t>
            </a:r>
            <a:endParaRPr lang="en-US" sz="900" dirty="0"/>
          </a:p>
        </p:txBody>
      </p:sp>
      <p:sp>
        <p:nvSpPr>
          <p:cNvPr id="21" name="Text 17"/>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8892C2"/>
                </a:solidFill>
                <a:latin typeface="Calibri" pitchFamily="34" charset="0"/>
                <a:ea typeface="Calibri" pitchFamily="34" charset="-122"/>
                <a:cs typeface="Calibri" pitchFamily="34" charset="-120"/>
              </a:rPr>
              <a:t>6</a:t>
            </a:r>
            <a:endParaRPr lang="en-US" sz="900" dirty="0"/>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02.10–12 · BENEFITS &amp; METRICS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Expected Benefits, Measured by Clear Targets</a:t>
            </a:r>
            <a:endParaRPr lang="en-US" sz="3000" dirty="0"/>
          </a:p>
        </p:txBody>
      </p:sp>
      <p:sp>
        <p:nvSpPr>
          <p:cNvPr id="4" name="Text 2"/>
          <p:cNvSpPr/>
          <p:nvPr/>
        </p:nvSpPr>
        <p:spPr>
          <a:xfrm>
            <a:off x="548640" y="1874520"/>
            <a:ext cx="5120640" cy="274320"/>
          </a:xfrm>
          <a:prstGeom prst="rect">
            <a:avLst/>
          </a:prstGeom>
          <a:noFill/>
          <a:ln/>
        </p:spPr>
        <p:txBody>
          <a:bodyPr wrap="square" rtlCol="0" anchor="ctr"/>
          <a:lstStyle/>
          <a:p>
            <a:pPr marL="0" indent="0">
              <a:buNone/>
            </a:pPr>
            <a:r>
              <a:rPr lang="en-US" sz="1400" b="1" kern="0" spc="100" dirty="0">
                <a:solidFill>
                  <a:srgbClr val="1E2761"/>
                </a:solidFill>
                <a:latin typeface="Calibri" pitchFamily="34" charset="0"/>
                <a:ea typeface="Calibri" pitchFamily="34" charset="-122"/>
                <a:cs typeface="Calibri" pitchFamily="34" charset="-120"/>
              </a:rPr>
              <a:t>EXPECTED BENEFITS</a:t>
            </a:r>
            <a:endParaRPr lang="en-US" sz="1400" dirty="0"/>
          </a:p>
        </p:txBody>
      </p:sp>
      <p:sp>
        <p:nvSpPr>
          <p:cNvPr id="5" name="Shape 3"/>
          <p:cNvSpPr/>
          <p:nvPr/>
        </p:nvSpPr>
        <p:spPr>
          <a:xfrm>
            <a:off x="548640" y="2267712"/>
            <a:ext cx="146304" cy="146304"/>
          </a:xfrm>
          <a:prstGeom prst="ellipse">
            <a:avLst/>
          </a:prstGeom>
          <a:solidFill>
            <a:srgbClr val="E8A33D"/>
          </a:solidFill>
          <a:ln/>
        </p:spPr>
        <p:txBody>
          <a:bodyPr/>
          <a:lstStyle/>
          <a:p>
            <a:endParaRPr lang="en-US"/>
          </a:p>
        </p:txBody>
      </p:sp>
      <p:sp>
        <p:nvSpPr>
          <p:cNvPr id="6" name="Text 4"/>
          <p:cNvSpPr/>
          <p:nvPr/>
        </p:nvSpPr>
        <p:spPr>
          <a:xfrm>
            <a:off x="822960" y="218541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Reduced lunch-hour waiting time</a:t>
            </a:r>
            <a:endParaRPr lang="en-US" sz="1400" dirty="0"/>
          </a:p>
        </p:txBody>
      </p:sp>
      <p:sp>
        <p:nvSpPr>
          <p:cNvPr id="7" name="Shape 5"/>
          <p:cNvSpPr/>
          <p:nvPr/>
        </p:nvSpPr>
        <p:spPr>
          <a:xfrm>
            <a:off x="548640" y="3044952"/>
            <a:ext cx="146304" cy="146304"/>
          </a:xfrm>
          <a:prstGeom prst="ellipse">
            <a:avLst/>
          </a:prstGeom>
          <a:solidFill>
            <a:srgbClr val="E8A33D"/>
          </a:solidFill>
          <a:ln/>
        </p:spPr>
        <p:txBody>
          <a:bodyPr/>
          <a:lstStyle/>
          <a:p>
            <a:endParaRPr lang="en-US"/>
          </a:p>
        </p:txBody>
      </p:sp>
      <p:sp>
        <p:nvSpPr>
          <p:cNvPr id="8" name="Text 6"/>
          <p:cNvSpPr/>
          <p:nvPr/>
        </p:nvSpPr>
        <p:spPr>
          <a:xfrm>
            <a:off x="822960" y="296265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Reduced canteen congestion at peak</a:t>
            </a:r>
            <a:endParaRPr lang="en-US" sz="1400" dirty="0"/>
          </a:p>
        </p:txBody>
      </p:sp>
      <p:sp>
        <p:nvSpPr>
          <p:cNvPr id="9" name="Shape 7"/>
          <p:cNvSpPr/>
          <p:nvPr/>
        </p:nvSpPr>
        <p:spPr>
          <a:xfrm>
            <a:off x="548640" y="3822192"/>
            <a:ext cx="146304" cy="146304"/>
          </a:xfrm>
          <a:prstGeom prst="ellipse">
            <a:avLst/>
          </a:prstGeom>
          <a:solidFill>
            <a:srgbClr val="E8A33D"/>
          </a:solidFill>
          <a:ln/>
        </p:spPr>
        <p:txBody>
          <a:bodyPr/>
          <a:lstStyle/>
          <a:p>
            <a:endParaRPr lang="en-US"/>
          </a:p>
        </p:txBody>
      </p:sp>
      <p:sp>
        <p:nvSpPr>
          <p:cNvPr id="10" name="Text 8"/>
          <p:cNvSpPr/>
          <p:nvPr/>
        </p:nvSpPr>
        <p:spPr>
          <a:xfrm>
            <a:off x="822960" y="373989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Improved employee productivity &amp; experience</a:t>
            </a:r>
            <a:endParaRPr lang="en-US" sz="1400" dirty="0"/>
          </a:p>
        </p:txBody>
      </p:sp>
      <p:sp>
        <p:nvSpPr>
          <p:cNvPr id="11" name="Shape 9"/>
          <p:cNvSpPr/>
          <p:nvPr/>
        </p:nvSpPr>
        <p:spPr>
          <a:xfrm>
            <a:off x="548640" y="4599432"/>
            <a:ext cx="146304" cy="146304"/>
          </a:xfrm>
          <a:prstGeom prst="ellipse">
            <a:avLst/>
          </a:prstGeom>
          <a:solidFill>
            <a:srgbClr val="E8A33D"/>
          </a:solidFill>
          <a:ln/>
        </p:spPr>
        <p:txBody>
          <a:bodyPr/>
          <a:lstStyle/>
          <a:p>
            <a:endParaRPr lang="en-US"/>
          </a:p>
        </p:txBody>
      </p:sp>
      <p:sp>
        <p:nvSpPr>
          <p:cNvPr id="12" name="Text 10"/>
          <p:cNvSpPr/>
          <p:nvPr/>
        </p:nvSpPr>
        <p:spPr>
          <a:xfrm>
            <a:off x="822960" y="451713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Better canteen planning from confirmed orders</a:t>
            </a:r>
            <a:endParaRPr lang="en-US" sz="1400" dirty="0"/>
          </a:p>
        </p:txBody>
      </p:sp>
      <p:sp>
        <p:nvSpPr>
          <p:cNvPr id="13" name="Shape 11"/>
          <p:cNvSpPr/>
          <p:nvPr/>
        </p:nvSpPr>
        <p:spPr>
          <a:xfrm>
            <a:off x="3246120" y="2267712"/>
            <a:ext cx="146304" cy="146304"/>
          </a:xfrm>
          <a:prstGeom prst="ellipse">
            <a:avLst/>
          </a:prstGeom>
          <a:solidFill>
            <a:srgbClr val="E8A33D"/>
          </a:solidFill>
          <a:ln/>
        </p:spPr>
        <p:txBody>
          <a:bodyPr/>
          <a:lstStyle/>
          <a:p>
            <a:endParaRPr lang="en-US"/>
          </a:p>
        </p:txBody>
      </p:sp>
      <p:sp>
        <p:nvSpPr>
          <p:cNvPr id="14" name="Text 12"/>
          <p:cNvSpPr/>
          <p:nvPr/>
        </p:nvSpPr>
        <p:spPr>
          <a:xfrm>
            <a:off x="3520440" y="218541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Reduced food shortage and food wastage</a:t>
            </a:r>
            <a:endParaRPr lang="en-US" sz="1400" dirty="0"/>
          </a:p>
        </p:txBody>
      </p:sp>
      <p:sp>
        <p:nvSpPr>
          <p:cNvPr id="15" name="Shape 13"/>
          <p:cNvSpPr/>
          <p:nvPr/>
        </p:nvSpPr>
        <p:spPr>
          <a:xfrm>
            <a:off x="3246120" y="3044952"/>
            <a:ext cx="146304" cy="146304"/>
          </a:xfrm>
          <a:prstGeom prst="ellipse">
            <a:avLst/>
          </a:prstGeom>
          <a:solidFill>
            <a:srgbClr val="E8A33D"/>
          </a:solidFill>
          <a:ln/>
        </p:spPr>
        <p:txBody>
          <a:bodyPr/>
          <a:lstStyle/>
          <a:p>
            <a:endParaRPr lang="en-US"/>
          </a:p>
        </p:txBody>
      </p:sp>
      <p:sp>
        <p:nvSpPr>
          <p:cNvPr id="16" name="Text 14"/>
          <p:cNvSpPr/>
          <p:nvPr/>
        </p:nvSpPr>
        <p:spPr>
          <a:xfrm>
            <a:off x="3520440" y="296265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Improved order tracking &amp; delivery accountability</a:t>
            </a:r>
            <a:endParaRPr lang="en-US" sz="1400" dirty="0"/>
          </a:p>
        </p:txBody>
      </p:sp>
      <p:sp>
        <p:nvSpPr>
          <p:cNvPr id="17" name="Shape 15"/>
          <p:cNvSpPr/>
          <p:nvPr/>
        </p:nvSpPr>
        <p:spPr>
          <a:xfrm>
            <a:off x="3246120" y="3822192"/>
            <a:ext cx="146304" cy="146304"/>
          </a:xfrm>
          <a:prstGeom prst="ellipse">
            <a:avLst/>
          </a:prstGeom>
          <a:solidFill>
            <a:srgbClr val="E8A33D"/>
          </a:solidFill>
          <a:ln/>
        </p:spPr>
        <p:txBody>
          <a:bodyPr/>
          <a:lstStyle/>
          <a:p>
            <a:endParaRPr lang="en-US"/>
          </a:p>
        </p:txBody>
      </p:sp>
      <p:sp>
        <p:nvSpPr>
          <p:cNvPr id="18" name="Text 16"/>
          <p:cNvSpPr/>
          <p:nvPr/>
        </p:nvSpPr>
        <p:spPr>
          <a:xfrm>
            <a:off x="3520440" y="373989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Simpler payment via salary deduction</a:t>
            </a:r>
            <a:endParaRPr lang="en-US" sz="1400" dirty="0"/>
          </a:p>
        </p:txBody>
      </p:sp>
      <p:sp>
        <p:nvSpPr>
          <p:cNvPr id="19" name="Shape 17"/>
          <p:cNvSpPr/>
          <p:nvPr/>
        </p:nvSpPr>
        <p:spPr>
          <a:xfrm>
            <a:off x="3246120" y="4599432"/>
            <a:ext cx="146304" cy="146304"/>
          </a:xfrm>
          <a:prstGeom prst="ellipse">
            <a:avLst/>
          </a:prstGeom>
          <a:solidFill>
            <a:srgbClr val="E8A33D"/>
          </a:solidFill>
          <a:ln/>
        </p:spPr>
        <p:txBody>
          <a:bodyPr/>
          <a:lstStyle/>
          <a:p>
            <a:endParaRPr lang="en-US"/>
          </a:p>
        </p:txBody>
      </p:sp>
      <p:sp>
        <p:nvSpPr>
          <p:cNvPr id="20" name="Text 18"/>
          <p:cNvSpPr/>
          <p:nvPr/>
        </p:nvSpPr>
        <p:spPr>
          <a:xfrm>
            <a:off x="3520440" y="4517136"/>
            <a:ext cx="2331720" cy="685800"/>
          </a:xfrm>
          <a:prstGeom prst="rect">
            <a:avLst/>
          </a:prstGeom>
          <a:noFill/>
          <a:ln/>
        </p:spPr>
        <p:txBody>
          <a:bodyPr wrap="square" rtlCol="0" anchor="t"/>
          <a:lstStyle/>
          <a:p>
            <a:pPr marL="0" indent="0">
              <a:buNone/>
            </a:pPr>
            <a:r>
              <a:rPr lang="en-US" sz="1400" dirty="0">
                <a:solidFill>
                  <a:srgbClr val="24272E"/>
                </a:solidFill>
                <a:latin typeface="Calibri" pitchFamily="34" charset="0"/>
                <a:ea typeface="Calibri" pitchFamily="34" charset="-122"/>
                <a:cs typeface="Calibri" pitchFamily="34" charset="-120"/>
              </a:rPr>
              <a:t>Better service through employee feedback</a:t>
            </a:r>
            <a:endParaRPr lang="en-US" sz="1400" dirty="0"/>
          </a:p>
        </p:txBody>
      </p:sp>
      <p:sp>
        <p:nvSpPr>
          <p:cNvPr id="21" name="Text 19"/>
          <p:cNvSpPr/>
          <p:nvPr/>
        </p:nvSpPr>
        <p:spPr>
          <a:xfrm>
            <a:off x="6126480" y="1874520"/>
            <a:ext cx="5486400" cy="274320"/>
          </a:xfrm>
          <a:prstGeom prst="rect">
            <a:avLst/>
          </a:prstGeom>
          <a:noFill/>
          <a:ln/>
        </p:spPr>
        <p:txBody>
          <a:bodyPr wrap="square" rtlCol="0" anchor="ctr"/>
          <a:lstStyle/>
          <a:p>
            <a:pPr marL="0" indent="0">
              <a:buNone/>
            </a:pPr>
            <a:r>
              <a:rPr lang="en-US" sz="1200" b="1" kern="0" spc="100" dirty="0">
                <a:solidFill>
                  <a:srgbClr val="1E2761"/>
                </a:solidFill>
                <a:latin typeface="Calibri" pitchFamily="34" charset="0"/>
                <a:ea typeface="Calibri" pitchFamily="34" charset="-122"/>
                <a:cs typeface="Calibri" pitchFamily="34" charset="-120"/>
              </a:rPr>
              <a:t>SUCCESS METRICS</a:t>
            </a:r>
            <a:endParaRPr lang="en-US" sz="1200" dirty="0"/>
          </a:p>
        </p:txBody>
      </p:sp>
      <p:sp>
        <p:nvSpPr>
          <p:cNvPr id="22" name="Shape 20"/>
          <p:cNvSpPr/>
          <p:nvPr/>
        </p:nvSpPr>
        <p:spPr>
          <a:xfrm>
            <a:off x="6126480" y="2240280"/>
            <a:ext cx="5440680" cy="420624"/>
          </a:xfrm>
          <a:prstGeom prst="rect">
            <a:avLst/>
          </a:prstGeom>
          <a:solidFill>
            <a:srgbClr val="F4F6FB"/>
          </a:solidFill>
          <a:ln/>
        </p:spPr>
        <p:txBody>
          <a:bodyPr/>
          <a:lstStyle/>
          <a:p>
            <a:endParaRPr lang="en-US" sz="1600"/>
          </a:p>
        </p:txBody>
      </p:sp>
      <p:sp>
        <p:nvSpPr>
          <p:cNvPr id="23" name="Text 21"/>
          <p:cNvSpPr/>
          <p:nvPr/>
        </p:nvSpPr>
        <p:spPr>
          <a:xfrm>
            <a:off x="6263640" y="2240280"/>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Lunch waiting time reduction</a:t>
            </a:r>
            <a:endParaRPr lang="en-US" sz="1600" dirty="0"/>
          </a:p>
        </p:txBody>
      </p:sp>
      <p:sp>
        <p:nvSpPr>
          <p:cNvPr id="24" name="Text 22"/>
          <p:cNvSpPr/>
          <p:nvPr/>
        </p:nvSpPr>
        <p:spPr>
          <a:xfrm>
            <a:off x="10195560" y="2240280"/>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50%</a:t>
            </a:r>
            <a:endParaRPr lang="en-US" sz="1600" dirty="0"/>
          </a:p>
        </p:txBody>
      </p:sp>
      <p:sp>
        <p:nvSpPr>
          <p:cNvPr id="25" name="Shape 23"/>
          <p:cNvSpPr/>
          <p:nvPr/>
        </p:nvSpPr>
        <p:spPr>
          <a:xfrm>
            <a:off x="6126480" y="2660904"/>
            <a:ext cx="5440680" cy="420624"/>
          </a:xfrm>
          <a:prstGeom prst="rect">
            <a:avLst/>
          </a:prstGeom>
          <a:solidFill>
            <a:srgbClr val="FFFFFF"/>
          </a:solidFill>
          <a:ln/>
        </p:spPr>
        <p:txBody>
          <a:bodyPr/>
          <a:lstStyle/>
          <a:p>
            <a:endParaRPr lang="en-US" sz="1600"/>
          </a:p>
        </p:txBody>
      </p:sp>
      <p:sp>
        <p:nvSpPr>
          <p:cNvPr id="26" name="Text 24"/>
          <p:cNvSpPr/>
          <p:nvPr/>
        </p:nvSpPr>
        <p:spPr>
          <a:xfrm>
            <a:off x="6263640" y="2660904"/>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Employee adoption (3 months)</a:t>
            </a:r>
            <a:endParaRPr lang="en-US" sz="1600" dirty="0"/>
          </a:p>
        </p:txBody>
      </p:sp>
      <p:sp>
        <p:nvSpPr>
          <p:cNvPr id="27" name="Text 25"/>
          <p:cNvSpPr/>
          <p:nvPr/>
        </p:nvSpPr>
        <p:spPr>
          <a:xfrm>
            <a:off x="10195560" y="2660904"/>
            <a:ext cx="1280160" cy="420624"/>
          </a:xfrm>
          <a:prstGeom prst="rect">
            <a:avLst/>
          </a:prstGeom>
          <a:noFill/>
          <a:ln/>
        </p:spPr>
        <p:txBody>
          <a:bodyPr wrap="square" rtlCol="0" anchor="ctr"/>
          <a:lstStyle/>
          <a:p>
            <a:pPr marL="0" indent="0" algn="r">
              <a:buNone/>
            </a:pPr>
            <a:r>
              <a:rPr lang="en-US" sz="1200" b="1" dirty="0">
                <a:solidFill>
                  <a:srgbClr val="1E2761"/>
                </a:solidFill>
                <a:latin typeface="Calibri" pitchFamily="34" charset="0"/>
                <a:ea typeface="Calibri" pitchFamily="34" charset="-122"/>
                <a:cs typeface="Calibri" pitchFamily="34" charset="-120"/>
              </a:rPr>
              <a:t>≥ 60%</a:t>
            </a:r>
            <a:endParaRPr lang="en-US" sz="1200" dirty="0"/>
          </a:p>
        </p:txBody>
      </p:sp>
      <p:sp>
        <p:nvSpPr>
          <p:cNvPr id="28" name="Shape 26"/>
          <p:cNvSpPr/>
          <p:nvPr/>
        </p:nvSpPr>
        <p:spPr>
          <a:xfrm>
            <a:off x="6126480" y="3081528"/>
            <a:ext cx="5440680" cy="420624"/>
          </a:xfrm>
          <a:prstGeom prst="rect">
            <a:avLst/>
          </a:prstGeom>
          <a:solidFill>
            <a:srgbClr val="F4F6FB"/>
          </a:solidFill>
          <a:ln/>
        </p:spPr>
        <p:txBody>
          <a:bodyPr/>
          <a:lstStyle/>
          <a:p>
            <a:endParaRPr lang="en-US"/>
          </a:p>
        </p:txBody>
      </p:sp>
      <p:sp>
        <p:nvSpPr>
          <p:cNvPr id="29" name="Text 27"/>
          <p:cNvSpPr/>
          <p:nvPr/>
        </p:nvSpPr>
        <p:spPr>
          <a:xfrm>
            <a:off x="6263640" y="3081528"/>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Order delivery accuracy</a:t>
            </a:r>
            <a:endParaRPr lang="en-US" sz="1600" dirty="0"/>
          </a:p>
        </p:txBody>
      </p:sp>
      <p:sp>
        <p:nvSpPr>
          <p:cNvPr id="30" name="Text 28"/>
          <p:cNvSpPr/>
          <p:nvPr/>
        </p:nvSpPr>
        <p:spPr>
          <a:xfrm>
            <a:off x="10195560" y="3081528"/>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95%</a:t>
            </a:r>
            <a:endParaRPr lang="en-US" sz="1600" dirty="0"/>
          </a:p>
        </p:txBody>
      </p:sp>
      <p:sp>
        <p:nvSpPr>
          <p:cNvPr id="31" name="Shape 29"/>
          <p:cNvSpPr/>
          <p:nvPr/>
        </p:nvSpPr>
        <p:spPr>
          <a:xfrm>
            <a:off x="6126480" y="3502152"/>
            <a:ext cx="5440680" cy="420624"/>
          </a:xfrm>
          <a:prstGeom prst="rect">
            <a:avLst/>
          </a:prstGeom>
          <a:solidFill>
            <a:srgbClr val="FFFFFF"/>
          </a:solidFill>
          <a:ln/>
        </p:spPr>
        <p:txBody>
          <a:bodyPr/>
          <a:lstStyle/>
          <a:p>
            <a:endParaRPr lang="en-US"/>
          </a:p>
        </p:txBody>
      </p:sp>
      <p:sp>
        <p:nvSpPr>
          <p:cNvPr id="32" name="Text 30"/>
          <p:cNvSpPr/>
          <p:nvPr/>
        </p:nvSpPr>
        <p:spPr>
          <a:xfrm>
            <a:off x="6263640" y="3502152"/>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On-time delivery rate</a:t>
            </a:r>
            <a:endParaRPr lang="en-US" sz="1600" dirty="0"/>
          </a:p>
        </p:txBody>
      </p:sp>
      <p:sp>
        <p:nvSpPr>
          <p:cNvPr id="33" name="Text 31"/>
          <p:cNvSpPr/>
          <p:nvPr/>
        </p:nvSpPr>
        <p:spPr>
          <a:xfrm>
            <a:off x="10195560" y="3502152"/>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90%</a:t>
            </a:r>
            <a:endParaRPr lang="en-US" sz="1600" dirty="0"/>
          </a:p>
        </p:txBody>
      </p:sp>
      <p:sp>
        <p:nvSpPr>
          <p:cNvPr id="34" name="Shape 32"/>
          <p:cNvSpPr/>
          <p:nvPr/>
        </p:nvSpPr>
        <p:spPr>
          <a:xfrm>
            <a:off x="6126480" y="3922776"/>
            <a:ext cx="5440680" cy="420624"/>
          </a:xfrm>
          <a:prstGeom prst="rect">
            <a:avLst/>
          </a:prstGeom>
          <a:solidFill>
            <a:srgbClr val="F4F6FB"/>
          </a:solidFill>
          <a:ln/>
        </p:spPr>
        <p:txBody>
          <a:bodyPr/>
          <a:lstStyle/>
          <a:p>
            <a:endParaRPr lang="en-US"/>
          </a:p>
        </p:txBody>
      </p:sp>
      <p:sp>
        <p:nvSpPr>
          <p:cNvPr id="35" name="Text 33"/>
          <p:cNvSpPr/>
          <p:nvPr/>
        </p:nvSpPr>
        <p:spPr>
          <a:xfrm>
            <a:off x="6263640" y="3922776"/>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Food wastage reduction</a:t>
            </a:r>
            <a:endParaRPr lang="en-US" sz="1600" dirty="0"/>
          </a:p>
        </p:txBody>
      </p:sp>
      <p:sp>
        <p:nvSpPr>
          <p:cNvPr id="36" name="Text 34"/>
          <p:cNvSpPr/>
          <p:nvPr/>
        </p:nvSpPr>
        <p:spPr>
          <a:xfrm>
            <a:off x="10195560" y="3922776"/>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30%</a:t>
            </a:r>
            <a:endParaRPr lang="en-US" sz="1600" dirty="0"/>
          </a:p>
        </p:txBody>
      </p:sp>
      <p:sp>
        <p:nvSpPr>
          <p:cNvPr id="37" name="Shape 35"/>
          <p:cNvSpPr/>
          <p:nvPr/>
        </p:nvSpPr>
        <p:spPr>
          <a:xfrm>
            <a:off x="6126480" y="4343400"/>
            <a:ext cx="5440680" cy="420624"/>
          </a:xfrm>
          <a:prstGeom prst="rect">
            <a:avLst/>
          </a:prstGeom>
          <a:solidFill>
            <a:srgbClr val="FFFFFF"/>
          </a:solidFill>
          <a:ln/>
        </p:spPr>
        <p:txBody>
          <a:bodyPr/>
          <a:lstStyle/>
          <a:p>
            <a:endParaRPr lang="en-US"/>
          </a:p>
        </p:txBody>
      </p:sp>
      <p:sp>
        <p:nvSpPr>
          <p:cNvPr id="38" name="Text 36"/>
          <p:cNvSpPr/>
          <p:nvPr/>
        </p:nvSpPr>
        <p:spPr>
          <a:xfrm>
            <a:off x="6263640" y="4343400"/>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Employee satisfaction</a:t>
            </a:r>
            <a:endParaRPr lang="en-US" sz="1600" dirty="0"/>
          </a:p>
        </p:txBody>
      </p:sp>
      <p:sp>
        <p:nvSpPr>
          <p:cNvPr id="39" name="Text 37"/>
          <p:cNvSpPr/>
          <p:nvPr/>
        </p:nvSpPr>
        <p:spPr>
          <a:xfrm>
            <a:off x="10195560" y="4343400"/>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80%</a:t>
            </a:r>
            <a:endParaRPr lang="en-US" sz="1600" dirty="0"/>
          </a:p>
        </p:txBody>
      </p:sp>
      <p:sp>
        <p:nvSpPr>
          <p:cNvPr id="40" name="Shape 38"/>
          <p:cNvSpPr/>
          <p:nvPr/>
        </p:nvSpPr>
        <p:spPr>
          <a:xfrm>
            <a:off x="6126480" y="4764024"/>
            <a:ext cx="5440680" cy="420624"/>
          </a:xfrm>
          <a:prstGeom prst="rect">
            <a:avLst/>
          </a:prstGeom>
          <a:solidFill>
            <a:srgbClr val="F4F6FB"/>
          </a:solidFill>
          <a:ln/>
        </p:spPr>
        <p:txBody>
          <a:bodyPr/>
          <a:lstStyle/>
          <a:p>
            <a:endParaRPr lang="en-US" sz="1600"/>
          </a:p>
        </p:txBody>
      </p:sp>
      <p:sp>
        <p:nvSpPr>
          <p:cNvPr id="41" name="Text 39"/>
          <p:cNvSpPr/>
          <p:nvPr/>
        </p:nvSpPr>
        <p:spPr>
          <a:xfrm>
            <a:off x="6263640" y="4764024"/>
            <a:ext cx="3977640" cy="420624"/>
          </a:xfrm>
          <a:prstGeom prst="rect">
            <a:avLst/>
          </a:prstGeom>
          <a:noFill/>
          <a:ln/>
        </p:spPr>
        <p:txBody>
          <a:bodyPr wrap="square" rtlCol="0" anchor="ctr"/>
          <a:lstStyle/>
          <a:p>
            <a:pPr marL="0" indent="0">
              <a:buNone/>
            </a:pPr>
            <a:r>
              <a:rPr lang="en-US" sz="1600" dirty="0">
                <a:solidFill>
                  <a:srgbClr val="24272E"/>
                </a:solidFill>
                <a:latin typeface="Calibri" pitchFamily="34" charset="0"/>
                <a:ea typeface="Calibri" pitchFamily="34" charset="-122"/>
                <a:cs typeface="Calibri" pitchFamily="34" charset="-120"/>
              </a:rPr>
              <a:t>Payroll deduction accuracy</a:t>
            </a:r>
            <a:endParaRPr lang="en-US" sz="1600" dirty="0"/>
          </a:p>
        </p:txBody>
      </p:sp>
      <p:sp>
        <p:nvSpPr>
          <p:cNvPr id="42" name="Text 40"/>
          <p:cNvSpPr/>
          <p:nvPr/>
        </p:nvSpPr>
        <p:spPr>
          <a:xfrm>
            <a:off x="10195560" y="4764024"/>
            <a:ext cx="1280160" cy="420624"/>
          </a:xfrm>
          <a:prstGeom prst="rect">
            <a:avLst/>
          </a:prstGeom>
          <a:noFill/>
          <a:ln/>
        </p:spPr>
        <p:txBody>
          <a:bodyPr wrap="square" rtlCol="0" anchor="ctr"/>
          <a:lstStyle/>
          <a:p>
            <a:pPr marL="0" indent="0" algn="r">
              <a:buNone/>
            </a:pPr>
            <a:r>
              <a:rPr lang="en-US" sz="1600" b="1" dirty="0">
                <a:solidFill>
                  <a:srgbClr val="1E2761"/>
                </a:solidFill>
                <a:latin typeface="Calibri" pitchFamily="34" charset="0"/>
                <a:ea typeface="Calibri" pitchFamily="34" charset="-122"/>
                <a:cs typeface="Calibri" pitchFamily="34" charset="-120"/>
              </a:rPr>
              <a:t>≥ 98%</a:t>
            </a:r>
            <a:endParaRPr lang="en-US" sz="1600" dirty="0"/>
          </a:p>
        </p:txBody>
      </p:sp>
      <p:sp>
        <p:nvSpPr>
          <p:cNvPr id="43" name="Text 41"/>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44" name="Text 42"/>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03 · STAKEHOLDER ANALYSIS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Who Is Involved, and Why They Matter</a:t>
            </a:r>
            <a:endParaRPr lang="en-US" sz="3000" dirty="0"/>
          </a:p>
        </p:txBody>
      </p:sp>
      <p:graphicFrame>
        <p:nvGraphicFramePr>
          <p:cNvPr id="9" name="Table 0"/>
          <p:cNvGraphicFramePr>
            <a:graphicFrameLocks noGrp="1"/>
          </p:cNvGraphicFramePr>
          <p:nvPr>
            <p:extLst>
              <p:ext uri="{D42A27DB-BD31-4B8C-83A1-F6EECF244321}">
                <p14:modId xmlns:p14="http://schemas.microsoft.com/office/powerpoint/2010/main" val="3321703544"/>
              </p:ext>
            </p:extLst>
          </p:nvPr>
        </p:nvGraphicFramePr>
        <p:xfrm>
          <a:off x="548640" y="1874520"/>
          <a:ext cx="11109960" cy="4434840"/>
        </p:xfrm>
        <a:graphic>
          <a:graphicData uri="http://schemas.openxmlformats.org/drawingml/2006/table">
            <a:tbl>
              <a:tblPr/>
              <a:tblGrid>
                <a:gridCol w="283464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5897880">
                  <a:extLst>
                    <a:ext uri="{9D8B030D-6E8A-4147-A177-3AD203B41FA5}">
                      <a16:colId xmlns:a16="http://schemas.microsoft.com/office/drawing/2014/main" val="20003"/>
                    </a:ext>
                  </a:extLst>
                </a:gridCol>
              </a:tblGrid>
              <a:tr h="554355">
                <a:tc>
                  <a:txBody>
                    <a:bodyPr/>
                    <a:lstStyle/>
                    <a:p>
                      <a:pPr marL="0" indent="0" algn="l">
                        <a:buNone/>
                      </a:pPr>
                      <a:r>
                        <a:rPr lang="en-US" sz="1400" b="1" dirty="0">
                          <a:solidFill>
                            <a:srgbClr val="FFFFFF"/>
                          </a:solidFill>
                        </a:rPr>
                        <a:t>Stakeholder</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rPr>
                        <a:t>Influence</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marL="0" indent="0" algn="ctr">
                        <a:buNone/>
                      </a:pPr>
                      <a:r>
                        <a:rPr lang="en-US" sz="1400" b="1" dirty="0">
                          <a:solidFill>
                            <a:srgbClr val="FFFFFF"/>
                          </a:solidFill>
                        </a:rPr>
                        <a:t>Impact</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tc>
                  <a:txBody>
                    <a:bodyPr/>
                    <a:lstStyle/>
                    <a:p>
                      <a:pPr marL="0" indent="0" algn="l">
                        <a:buNone/>
                      </a:pPr>
                      <a:r>
                        <a:rPr lang="en-US" sz="1400" b="1" dirty="0">
                          <a:solidFill>
                            <a:srgbClr val="FFFFFF"/>
                          </a:solidFill>
                        </a:rPr>
                        <a:t>Justification</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554355">
                <a:tc>
                  <a:txBody>
                    <a:bodyPr/>
                    <a:lstStyle/>
                    <a:p>
                      <a:pPr marL="0" indent="0">
                        <a:buNone/>
                      </a:pPr>
                      <a:r>
                        <a:rPr lang="en-US" sz="1400" b="1" dirty="0">
                          <a:solidFill>
                            <a:srgbClr val="24272E"/>
                          </a:solidFill>
                        </a:rPr>
                        <a:t>Senior Management</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buNone/>
                      </a:pPr>
                      <a:r>
                        <a:rPr lang="en-US" sz="1400" dirty="0">
                          <a:solidFill>
                            <a:srgbClr val="6B7280"/>
                          </a:solidFill>
                        </a:rPr>
                        <a:t>Controls approval, funding &amp; final decisions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extLst>
                  <a:ext uri="{0D108BD9-81ED-4DB2-BD59-A6C34878D82A}">
                    <a16:rowId xmlns:a16="http://schemas.microsoft.com/office/drawing/2014/main" val="10001"/>
                  </a:ext>
                </a:extLst>
              </a:tr>
              <a:tr h="554355">
                <a:tc>
                  <a:txBody>
                    <a:bodyPr/>
                    <a:lstStyle/>
                    <a:p>
                      <a:pPr marL="0" indent="0">
                        <a:buNone/>
                      </a:pPr>
                      <a:r>
                        <a:rPr lang="en-US" sz="1400" b="1" dirty="0">
                          <a:solidFill>
                            <a:srgbClr val="24272E"/>
                          </a:solidFill>
                        </a:rPr>
                        <a:t>Employees / Canteen Users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AD7A19"/>
                          </a:solidFill>
                        </a:rPr>
                        <a:t>Medium</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1400" dirty="0">
                          <a:solidFill>
                            <a:srgbClr val="6B7280"/>
                          </a:solidFill>
                        </a:rPr>
                        <a:t>Main users directly affected by the new process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4355">
                <a:tc>
                  <a:txBody>
                    <a:bodyPr/>
                    <a:lstStyle/>
                    <a:p>
                      <a:pPr marL="0" indent="0">
                        <a:buNone/>
                      </a:pPr>
                      <a:r>
                        <a:rPr lang="en-US" sz="1400" b="1" dirty="0">
                          <a:solidFill>
                            <a:srgbClr val="24272E"/>
                          </a:solidFill>
                        </a:rPr>
                        <a:t>Menu Manager</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AD7A19"/>
                          </a:solidFill>
                        </a:rPr>
                        <a:t>Medium</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buNone/>
                      </a:pPr>
                      <a:r>
                        <a:rPr lang="en-US" sz="1400" dirty="0">
                          <a:solidFill>
                            <a:srgbClr val="6B7280"/>
                          </a:solidFill>
                        </a:rPr>
                        <a:t>System depends on accurate daily menu updates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extLst>
                  <a:ext uri="{0D108BD9-81ED-4DB2-BD59-A6C34878D82A}">
                    <a16:rowId xmlns:a16="http://schemas.microsoft.com/office/drawing/2014/main" val="10003"/>
                  </a:ext>
                </a:extLst>
              </a:tr>
              <a:tr h="554355">
                <a:tc>
                  <a:txBody>
                    <a:bodyPr/>
                    <a:lstStyle/>
                    <a:p>
                      <a:pPr marL="0" indent="0">
                        <a:buNone/>
                      </a:pPr>
                      <a:r>
                        <a:rPr lang="en-US" sz="1400" b="1" dirty="0">
                          <a:solidFill>
                            <a:srgbClr val="24272E"/>
                          </a:solidFill>
                        </a:rPr>
                        <a:t>Canteen Manager / Order Processor</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1400" dirty="0">
                          <a:solidFill>
                            <a:srgbClr val="6B7280"/>
                          </a:solidFill>
                        </a:rPr>
                        <a:t>Manages the operational flow after orders are placed</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4355">
                <a:tc>
                  <a:txBody>
                    <a:bodyPr/>
                    <a:lstStyle/>
                    <a:p>
                      <a:pPr marL="0" indent="0">
                        <a:buNone/>
                      </a:pPr>
                      <a:r>
                        <a:rPr lang="en-US" sz="1400" b="1" dirty="0">
                          <a:solidFill>
                            <a:srgbClr val="24272E"/>
                          </a:solidFill>
                        </a:rPr>
                        <a:t>IT / System Development Team</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buNone/>
                      </a:pPr>
                      <a:r>
                        <a:rPr lang="en-US" sz="1400" dirty="0">
                          <a:solidFill>
                            <a:srgbClr val="6B7280"/>
                          </a:solidFill>
                        </a:rPr>
                        <a:t>Project cannot be delivered without this team</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extLst>
                  <a:ext uri="{0D108BD9-81ED-4DB2-BD59-A6C34878D82A}">
                    <a16:rowId xmlns:a16="http://schemas.microsoft.com/office/drawing/2014/main" val="10005"/>
                  </a:ext>
                </a:extLst>
              </a:tr>
              <a:tr h="554355">
                <a:tc>
                  <a:txBody>
                    <a:bodyPr/>
                    <a:lstStyle/>
                    <a:p>
                      <a:pPr marL="0" indent="0">
                        <a:buNone/>
                      </a:pPr>
                      <a:r>
                        <a:rPr lang="en-US" sz="1400" b="1" dirty="0">
                          <a:solidFill>
                            <a:srgbClr val="24272E"/>
                          </a:solidFill>
                        </a:rPr>
                        <a:t>Business Analyst</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tc>
                  <a:txBody>
                    <a:bodyPr/>
                    <a:lstStyle/>
                    <a:p>
                      <a:pPr marL="0" indent="0">
                        <a:buNone/>
                      </a:pPr>
                      <a:r>
                        <a:rPr lang="en-US" sz="1400" dirty="0">
                          <a:solidFill>
                            <a:srgbClr val="6B7280"/>
                          </a:solidFill>
                        </a:rPr>
                        <a:t>Connects business needs with system requirements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54355">
                <a:tc>
                  <a:txBody>
                    <a:bodyPr/>
                    <a:lstStyle/>
                    <a:p>
                      <a:pPr marL="0" indent="0">
                        <a:buNone/>
                      </a:pPr>
                      <a:r>
                        <a:rPr lang="en-US" sz="1400" b="1" dirty="0">
                          <a:solidFill>
                            <a:srgbClr val="24272E"/>
                          </a:solidFill>
                        </a:rPr>
                        <a:t>Payroll Department</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lgn="ctr">
                        <a:buNone/>
                      </a:pPr>
                      <a:r>
                        <a:rPr lang="en-US" sz="1400" b="1" dirty="0">
                          <a:solidFill>
                            <a:srgbClr val="B3261E"/>
                          </a:solidFill>
                        </a:rPr>
                        <a:t>High</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tc>
                  <a:txBody>
                    <a:bodyPr/>
                    <a:lstStyle/>
                    <a:p>
                      <a:pPr marL="0" indent="0">
                        <a:buNone/>
                      </a:pPr>
                      <a:r>
                        <a:rPr lang="en-US" sz="1400" dirty="0">
                          <a:solidFill>
                            <a:srgbClr val="6B7280"/>
                          </a:solidFill>
                        </a:rPr>
                        <a:t>Ensures accurate monthly salary deductions</a:t>
                      </a:r>
                      <a:endParaRPr lang="en-US" sz="1400" dirty="0"/>
                    </a:p>
                  </a:txBody>
                  <a:tcPr anchor="ctr">
                    <a:lnL w="9525" cap="flat" cmpd="sng" algn="ctr">
                      <a:solidFill>
                        <a:srgbClr val="E3E7F0"/>
                      </a:solidFill>
                      <a:prstDash val="solid"/>
                      <a:round/>
                      <a:headEnd type="none" w="med" len="med"/>
                      <a:tailEnd type="none" w="med" len="med"/>
                    </a:lnL>
                    <a:lnR w="9525" cap="flat" cmpd="sng" algn="ctr">
                      <a:solidFill>
                        <a:srgbClr val="E3E7F0"/>
                      </a:solidFill>
                      <a:prstDash val="solid"/>
                      <a:round/>
                      <a:headEnd type="none" w="med" len="med"/>
                      <a:tailEnd type="none" w="med" len="med"/>
                    </a:lnR>
                    <a:lnT w="9525" cap="flat" cmpd="sng" algn="ctr">
                      <a:solidFill>
                        <a:srgbClr val="E3E7F0"/>
                      </a:solidFill>
                      <a:prstDash val="solid"/>
                      <a:round/>
                      <a:headEnd type="none" w="med" len="med"/>
                      <a:tailEnd type="none" w="med" len="med"/>
                    </a:lnT>
                    <a:lnB w="9525" cap="flat" cmpd="sng" algn="ctr">
                      <a:solidFill>
                        <a:srgbClr val="E3E7F0"/>
                      </a:solidFill>
                      <a:prstDash val="solid"/>
                      <a:round/>
                      <a:headEnd type="none" w="med" len="med"/>
                      <a:tailEnd type="none" w="med" len="med"/>
                    </a:lnB>
                    <a:solidFill>
                      <a:srgbClr val="F4F6FB"/>
                    </a:solidFill>
                  </a:tcPr>
                </a:tc>
                <a:extLst>
                  <a:ext uri="{0D108BD9-81ED-4DB2-BD59-A6C34878D82A}">
                    <a16:rowId xmlns:a16="http://schemas.microsoft.com/office/drawing/2014/main" val="10007"/>
                  </a:ext>
                </a:extLst>
              </a:tr>
            </a:tbl>
          </a:graphicData>
        </a:graphic>
      </p:graphicFrame>
      <p:sp>
        <p:nvSpPr>
          <p:cNvPr id="5" name="Text 2"/>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6" name="Text 3"/>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06 · CURRENT FLOW PROCESS</a:t>
            </a:r>
            <a:endParaRPr lang="en-US" sz="1200" dirty="0"/>
          </a:p>
        </p:txBody>
      </p:sp>
      <p:sp>
        <p:nvSpPr>
          <p:cNvPr id="3" name="Text 1"/>
          <p:cNvSpPr/>
          <p:nvPr/>
        </p:nvSpPr>
        <p:spPr>
          <a:xfrm>
            <a:off x="4159587" y="142012"/>
            <a:ext cx="3379548"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As-Is Process Map</a:t>
            </a:r>
            <a:endParaRPr lang="en-US" sz="3000" dirty="0"/>
          </a:p>
        </p:txBody>
      </p:sp>
      <p:sp>
        <p:nvSpPr>
          <p:cNvPr id="4" name="Text 2"/>
          <p:cNvSpPr/>
          <p:nvPr/>
        </p:nvSpPr>
        <p:spPr>
          <a:xfrm>
            <a:off x="590184" y="662940"/>
            <a:ext cx="3174274" cy="45720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How lunch ordering works today</a:t>
            </a:r>
            <a:endParaRPr lang="en-US" sz="1600" dirty="0"/>
          </a:p>
        </p:txBody>
      </p:sp>
      <p:sp>
        <p:nvSpPr>
          <p:cNvPr id="5" name="Shape 3"/>
          <p:cNvSpPr/>
          <p:nvPr/>
        </p:nvSpPr>
        <p:spPr>
          <a:xfrm>
            <a:off x="4419600" y="1120140"/>
            <a:ext cx="7223760" cy="5408676"/>
          </a:xfrm>
          <a:prstGeom prst="roundRect">
            <a:avLst>
              <a:gd name="adj" fmla="val 1188"/>
            </a:avLst>
          </a:prstGeom>
          <a:solidFill>
            <a:srgbClr val="F4F6FB"/>
          </a:solidFill>
          <a:ln w="12700">
            <a:solidFill>
              <a:srgbClr val="E3E7F0"/>
            </a:solidFill>
            <a:prstDash val="solid"/>
          </a:ln>
        </p:spPr>
        <p:txBody>
          <a:bodyPr/>
          <a:lstStyle/>
          <a:p>
            <a:endParaRPr lang="en-US"/>
          </a:p>
        </p:txBody>
      </p:sp>
      <p:pic>
        <p:nvPicPr>
          <p:cNvPr id="6" name="Image 0" descr="images/asis.png"/>
          <p:cNvPicPr>
            <a:picLocks noChangeAspect="1"/>
          </p:cNvPicPr>
          <p:nvPr/>
        </p:nvPicPr>
        <p:blipFill>
          <a:blip r:embed="rId3"/>
          <a:srcRect/>
          <a:stretch/>
        </p:blipFill>
        <p:spPr>
          <a:xfrm>
            <a:off x="4556455" y="1170432"/>
            <a:ext cx="6949440" cy="5029200"/>
          </a:xfrm>
          <a:prstGeom prst="rect">
            <a:avLst/>
          </a:prstGeom>
        </p:spPr>
      </p:pic>
      <p:sp>
        <p:nvSpPr>
          <p:cNvPr id="7" name="Text 4"/>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graphicFrame>
        <p:nvGraphicFramePr>
          <p:cNvPr id="9" name="Table 8">
            <a:extLst>
              <a:ext uri="{FF2B5EF4-FFF2-40B4-BE49-F238E27FC236}">
                <a16:creationId xmlns:a16="http://schemas.microsoft.com/office/drawing/2014/main" id="{3D794DEB-05EA-D59E-BF43-4BB6FD186B10}"/>
              </a:ext>
            </a:extLst>
          </p:cNvPr>
          <p:cNvGraphicFramePr>
            <a:graphicFrameLocks noGrp="1"/>
          </p:cNvGraphicFramePr>
          <p:nvPr>
            <p:extLst>
              <p:ext uri="{D42A27DB-BD31-4B8C-83A1-F6EECF244321}">
                <p14:modId xmlns:p14="http://schemas.microsoft.com/office/powerpoint/2010/main" val="2849681642"/>
              </p:ext>
            </p:extLst>
          </p:nvPr>
        </p:nvGraphicFramePr>
        <p:xfrm>
          <a:off x="341247" y="1449324"/>
          <a:ext cx="3940888" cy="4658869"/>
        </p:xfrm>
        <a:graphic>
          <a:graphicData uri="http://schemas.openxmlformats.org/drawingml/2006/table">
            <a:tbl>
              <a:tblPr firstRow="1" firstCol="1" bandRow="1">
                <a:tableStyleId>{5C22544A-7EE6-4342-B048-85BDC9FD1C3A}</a:tableStyleId>
              </a:tblPr>
              <a:tblGrid>
                <a:gridCol w="3940888">
                  <a:extLst>
                    <a:ext uri="{9D8B030D-6E8A-4147-A177-3AD203B41FA5}">
                      <a16:colId xmlns:a16="http://schemas.microsoft.com/office/drawing/2014/main" val="3159551614"/>
                    </a:ext>
                  </a:extLst>
                </a:gridCol>
              </a:tblGrid>
              <a:tr h="308043">
                <a:tc>
                  <a:txBody>
                    <a:bodyPr/>
                    <a:lstStyle/>
                    <a:p>
                      <a:pPr marL="0" marR="0">
                        <a:lnSpc>
                          <a:spcPct val="115000"/>
                        </a:lnSpc>
                        <a:spcAft>
                          <a:spcPts val="1000"/>
                        </a:spcAft>
                        <a:buNone/>
                      </a:pPr>
                      <a:r>
                        <a:rPr lang="en-US" sz="1200">
                          <a:effectLst/>
                        </a:rPr>
                        <a:t>Employee leaves workstation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41695983"/>
                  </a:ext>
                </a:extLst>
              </a:tr>
              <a:tr h="308043">
                <a:tc>
                  <a:txBody>
                    <a:bodyPr/>
                    <a:lstStyle/>
                    <a:p>
                      <a:pPr marL="0" marR="0">
                        <a:lnSpc>
                          <a:spcPct val="115000"/>
                        </a:lnSpc>
                        <a:spcAft>
                          <a:spcPts val="1000"/>
                        </a:spcAft>
                        <a:buNone/>
                      </a:pPr>
                      <a:r>
                        <a:rPr lang="en-US" sz="1200">
                          <a:effectLst/>
                        </a:rPr>
                        <a:t>Employee goes to the canteen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533451383"/>
                  </a:ext>
                </a:extLst>
              </a:tr>
              <a:tr h="308043">
                <a:tc>
                  <a:txBody>
                    <a:bodyPr/>
                    <a:lstStyle/>
                    <a:p>
                      <a:pPr marL="0" marR="0">
                        <a:lnSpc>
                          <a:spcPct val="115000"/>
                        </a:lnSpc>
                        <a:spcAft>
                          <a:spcPts val="1000"/>
                        </a:spcAft>
                        <a:buNone/>
                      </a:pPr>
                      <a:r>
                        <a:rPr lang="en-US" sz="1200">
                          <a:effectLst/>
                        </a:rPr>
                        <a:t>Employee joins the queue to buy food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960531533"/>
                  </a:ext>
                </a:extLst>
              </a:tr>
              <a:tr h="308043">
                <a:tc>
                  <a:txBody>
                    <a:bodyPr/>
                    <a:lstStyle/>
                    <a:p>
                      <a:pPr marL="0" marR="0">
                        <a:lnSpc>
                          <a:spcPct val="115000"/>
                        </a:lnSpc>
                        <a:spcAft>
                          <a:spcPts val="1000"/>
                        </a:spcAft>
                        <a:buNone/>
                      </a:pPr>
                      <a:r>
                        <a:rPr lang="en-US" sz="1200">
                          <a:effectLst/>
                        </a:rPr>
                        <a:t>Employee waits to be served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646608803"/>
                  </a:ext>
                </a:extLst>
              </a:tr>
              <a:tr h="635198">
                <a:tc>
                  <a:txBody>
                    <a:bodyPr/>
                    <a:lstStyle/>
                    <a:p>
                      <a:pPr marL="0" marR="0">
                        <a:lnSpc>
                          <a:spcPct val="115000"/>
                        </a:lnSpc>
                        <a:spcAft>
                          <a:spcPts val="1000"/>
                        </a:spcAft>
                        <a:buNone/>
                      </a:pPr>
                      <a:r>
                        <a:rPr lang="en-US" sz="1200">
                          <a:effectLst/>
                        </a:rPr>
                        <a:t>Decision: Is preferred meal available? If Yes, employee selects preferred meal. If No, employee selects another available meal and may feel dissatisfied.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99900182"/>
                  </a:ext>
                </a:extLst>
              </a:tr>
              <a:tr h="308043">
                <a:tc>
                  <a:txBody>
                    <a:bodyPr/>
                    <a:lstStyle/>
                    <a:p>
                      <a:pPr marL="0" marR="0">
                        <a:lnSpc>
                          <a:spcPct val="115000"/>
                        </a:lnSpc>
                        <a:spcAft>
                          <a:spcPts val="1000"/>
                        </a:spcAft>
                        <a:buNone/>
                      </a:pPr>
                      <a:r>
                        <a:rPr lang="en-US" sz="1200">
                          <a:effectLst/>
                        </a:rPr>
                        <a:t>Employee pays or records meal purchase</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68231633"/>
                  </a:ext>
                </a:extLst>
              </a:tr>
              <a:tr h="308043">
                <a:tc>
                  <a:txBody>
                    <a:bodyPr/>
                    <a:lstStyle/>
                    <a:p>
                      <a:pPr marL="0" marR="0">
                        <a:lnSpc>
                          <a:spcPct val="115000"/>
                        </a:lnSpc>
                        <a:spcAft>
                          <a:spcPts val="1000"/>
                        </a:spcAft>
                        <a:buNone/>
                      </a:pPr>
                      <a:r>
                        <a:rPr lang="en-US" sz="1200">
                          <a:effectLst/>
                        </a:rPr>
                        <a:t>Employee looks for available table</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953198006"/>
                  </a:ext>
                </a:extLst>
              </a:tr>
              <a:tr h="635198">
                <a:tc>
                  <a:txBody>
                    <a:bodyPr/>
                    <a:lstStyle/>
                    <a:p>
                      <a:pPr marL="0" marR="0">
                        <a:lnSpc>
                          <a:spcPct val="115000"/>
                        </a:lnSpc>
                        <a:spcAft>
                          <a:spcPts val="1000"/>
                        </a:spcAft>
                        <a:buNone/>
                      </a:pPr>
                      <a:r>
                        <a:rPr lang="en-US" sz="1200">
                          <a:effectLst/>
                        </a:rPr>
                        <a:t>Decision: Is seating space available? If No, employee waits for table and loses more lunch time. If Yes, employee sits and eats.</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55185996"/>
                  </a:ext>
                </a:extLst>
              </a:tr>
              <a:tr h="308043">
                <a:tc>
                  <a:txBody>
                    <a:bodyPr/>
                    <a:lstStyle/>
                    <a:p>
                      <a:pPr marL="0" marR="0">
                        <a:lnSpc>
                          <a:spcPct val="115000"/>
                        </a:lnSpc>
                        <a:spcAft>
                          <a:spcPts val="1000"/>
                        </a:spcAft>
                        <a:buNone/>
                      </a:pPr>
                      <a:r>
                        <a:rPr lang="en-US" sz="1200">
                          <a:effectLst/>
                        </a:rPr>
                        <a:t>Employee finishes eating and leaves the canteen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080867829"/>
                  </a:ext>
                </a:extLst>
              </a:tr>
              <a:tr h="308043">
                <a:tc>
                  <a:txBody>
                    <a:bodyPr/>
                    <a:lstStyle/>
                    <a:p>
                      <a:pPr marL="0" marR="0">
                        <a:lnSpc>
                          <a:spcPct val="115000"/>
                        </a:lnSpc>
                        <a:spcAft>
                          <a:spcPts val="1000"/>
                        </a:spcAft>
                        <a:buNone/>
                      </a:pPr>
                      <a:r>
                        <a:rPr lang="en-US" sz="1200">
                          <a:effectLst/>
                        </a:rPr>
                        <a:t>Employee returns to workstation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021427965"/>
                  </a:ext>
                </a:extLst>
              </a:tr>
              <a:tr h="308043">
                <a:tc>
                  <a:txBody>
                    <a:bodyPr/>
                    <a:lstStyle/>
                    <a:p>
                      <a:pPr marL="0" marR="0">
                        <a:lnSpc>
                          <a:spcPct val="115000"/>
                        </a:lnSpc>
                        <a:spcAft>
                          <a:spcPts val="1000"/>
                        </a:spcAft>
                        <a:buNone/>
                      </a:pPr>
                      <a:r>
                        <a:rPr lang="en-US" sz="1200">
                          <a:effectLst/>
                        </a:rPr>
                        <a:t>Employee resumes work</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099916101"/>
                  </a:ext>
                </a:extLst>
              </a:tr>
              <a:tr h="308043">
                <a:tc>
                  <a:txBody>
                    <a:bodyPr/>
                    <a:lstStyle/>
                    <a:p>
                      <a:pPr marL="0" marR="0">
                        <a:lnSpc>
                          <a:spcPct val="115000"/>
                        </a:lnSpc>
                        <a:spcAft>
                          <a:spcPts val="1000"/>
                        </a:spcAft>
                        <a:buNone/>
                      </a:pPr>
                      <a:r>
                        <a:rPr lang="en-US" sz="1200">
                          <a:effectLst/>
                        </a:rPr>
                        <a:t>Canteen reviews unsold food items</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630138540"/>
                  </a:ext>
                </a:extLst>
              </a:tr>
              <a:tr h="308043">
                <a:tc>
                  <a:txBody>
                    <a:bodyPr/>
                    <a:lstStyle/>
                    <a:p>
                      <a:pPr marL="0" marR="0">
                        <a:lnSpc>
                          <a:spcPct val="115000"/>
                        </a:lnSpc>
                        <a:spcAft>
                          <a:spcPts val="1000"/>
                        </a:spcAft>
                        <a:buNone/>
                      </a:pPr>
                      <a:r>
                        <a:rPr lang="en-US" sz="1200" dirty="0">
                          <a:effectLst/>
                        </a:rPr>
                        <a:t>Unsold food is thrown away</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881139538"/>
                  </a:ext>
                </a:extLst>
              </a:tr>
            </a:tbl>
          </a:graphicData>
        </a:graphic>
      </p:graphicFrame>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07 · FUTURE FLOW PROCESS</a:t>
            </a:r>
            <a:endParaRPr lang="en-US" sz="1200" dirty="0"/>
          </a:p>
        </p:txBody>
      </p:sp>
      <p:sp>
        <p:nvSpPr>
          <p:cNvPr id="3" name="Text 1"/>
          <p:cNvSpPr/>
          <p:nvPr/>
        </p:nvSpPr>
        <p:spPr>
          <a:xfrm>
            <a:off x="3200400" y="246329"/>
            <a:ext cx="4814596" cy="520798"/>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To-Be Process Map</a:t>
            </a:r>
            <a:endParaRPr lang="en-US" sz="3000" dirty="0"/>
          </a:p>
        </p:txBody>
      </p:sp>
      <p:sp>
        <p:nvSpPr>
          <p:cNvPr id="4" name="Text 2"/>
          <p:cNvSpPr/>
          <p:nvPr/>
        </p:nvSpPr>
        <p:spPr>
          <a:xfrm>
            <a:off x="441655" y="841807"/>
            <a:ext cx="11064240" cy="457200"/>
          </a:xfrm>
          <a:prstGeom prst="rect">
            <a:avLst/>
          </a:prstGeom>
          <a:noFill/>
          <a:ln/>
        </p:spPr>
        <p:txBody>
          <a:bodyPr wrap="square" rtlCol="0" anchor="ctr"/>
          <a:lstStyle/>
          <a:p>
            <a:pPr marL="0" indent="0">
              <a:buNone/>
            </a:pPr>
            <a:r>
              <a:rPr lang="en-US" sz="1600" i="1" dirty="0">
                <a:solidFill>
                  <a:srgbClr val="6B7280"/>
                </a:solidFill>
                <a:latin typeface="Calibri" pitchFamily="34" charset="0"/>
                <a:ea typeface="Calibri" pitchFamily="34" charset="-122"/>
                <a:cs typeface="Calibri" pitchFamily="34" charset="-120"/>
              </a:rPr>
              <a:t>How the Canteen Ordering System will work</a:t>
            </a:r>
            <a:endParaRPr lang="en-US" sz="1600" dirty="0"/>
          </a:p>
        </p:txBody>
      </p:sp>
      <p:sp>
        <p:nvSpPr>
          <p:cNvPr id="5" name="Shape 3"/>
          <p:cNvSpPr/>
          <p:nvPr/>
        </p:nvSpPr>
        <p:spPr>
          <a:xfrm>
            <a:off x="6670517" y="463730"/>
            <a:ext cx="4978691" cy="6117336"/>
          </a:xfrm>
          <a:prstGeom prst="roundRect">
            <a:avLst>
              <a:gd name="adj" fmla="val 1498"/>
            </a:avLst>
          </a:prstGeom>
          <a:solidFill>
            <a:srgbClr val="F4F6FB"/>
          </a:solidFill>
          <a:ln w="12700">
            <a:solidFill>
              <a:srgbClr val="E3E7F0"/>
            </a:solidFill>
            <a:prstDash val="solid"/>
          </a:ln>
        </p:spPr>
        <p:txBody>
          <a:bodyPr/>
          <a:lstStyle/>
          <a:p>
            <a:endParaRPr lang="en-US"/>
          </a:p>
        </p:txBody>
      </p:sp>
      <p:pic>
        <p:nvPicPr>
          <p:cNvPr id="6" name="Image 0" descr="images/tobe.jpeg"/>
          <p:cNvPicPr>
            <a:picLocks noChangeAspect="1"/>
          </p:cNvPicPr>
          <p:nvPr/>
        </p:nvPicPr>
        <p:blipFill>
          <a:blip r:embed="rId3"/>
          <a:srcRect/>
          <a:stretch/>
        </p:blipFill>
        <p:spPr>
          <a:xfrm>
            <a:off x="6795485" y="430208"/>
            <a:ext cx="4562669" cy="5970151"/>
          </a:xfrm>
          <a:prstGeom prst="rect">
            <a:avLst/>
          </a:prstGeom>
        </p:spPr>
      </p:pic>
      <p:sp>
        <p:nvSpPr>
          <p:cNvPr id="7" name="Text 4"/>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graphicFrame>
        <p:nvGraphicFramePr>
          <p:cNvPr id="9" name="Table 8">
            <a:extLst>
              <a:ext uri="{FF2B5EF4-FFF2-40B4-BE49-F238E27FC236}">
                <a16:creationId xmlns:a16="http://schemas.microsoft.com/office/drawing/2014/main" id="{E79023E2-3AA1-9BC0-F75E-06F568BB85AB}"/>
              </a:ext>
            </a:extLst>
          </p:cNvPr>
          <p:cNvGraphicFramePr>
            <a:graphicFrameLocks noGrp="1"/>
          </p:cNvGraphicFramePr>
          <p:nvPr>
            <p:extLst>
              <p:ext uri="{D42A27DB-BD31-4B8C-83A1-F6EECF244321}">
                <p14:modId xmlns:p14="http://schemas.microsoft.com/office/powerpoint/2010/main" val="1246246875"/>
              </p:ext>
            </p:extLst>
          </p:nvPr>
        </p:nvGraphicFramePr>
        <p:xfrm>
          <a:off x="625151" y="1475880"/>
          <a:ext cx="5253135" cy="5071354"/>
        </p:xfrm>
        <a:graphic>
          <a:graphicData uri="http://schemas.openxmlformats.org/drawingml/2006/table">
            <a:tbl>
              <a:tblPr firstRow="1" firstCol="1" bandRow="1">
                <a:tableStyleId>{5C22544A-7EE6-4342-B048-85BDC9FD1C3A}</a:tableStyleId>
              </a:tblPr>
              <a:tblGrid>
                <a:gridCol w="5253135">
                  <a:extLst>
                    <a:ext uri="{9D8B030D-6E8A-4147-A177-3AD203B41FA5}">
                      <a16:colId xmlns:a16="http://schemas.microsoft.com/office/drawing/2014/main" val="2755224574"/>
                    </a:ext>
                  </a:extLst>
                </a:gridCol>
              </a:tblGrid>
              <a:tr h="202349">
                <a:tc>
                  <a:txBody>
                    <a:bodyPr/>
                    <a:lstStyle/>
                    <a:p>
                      <a:pPr marL="0" marR="0">
                        <a:lnSpc>
                          <a:spcPct val="115000"/>
                        </a:lnSpc>
                        <a:spcAft>
                          <a:spcPts val="1000"/>
                        </a:spcAft>
                        <a:buNone/>
                      </a:pPr>
                      <a:r>
                        <a:rPr lang="en-US" sz="1200" dirty="0">
                          <a:effectLst/>
                        </a:rPr>
                        <a:t>Menu Manager creates or updates the daily menu</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815924413"/>
                  </a:ext>
                </a:extLst>
              </a:tr>
              <a:tr h="202349">
                <a:tc>
                  <a:txBody>
                    <a:bodyPr/>
                    <a:lstStyle/>
                    <a:p>
                      <a:pPr marL="0" marR="0">
                        <a:lnSpc>
                          <a:spcPct val="115000"/>
                        </a:lnSpc>
                        <a:spcAft>
                          <a:spcPts val="1000"/>
                        </a:spcAft>
                        <a:buNone/>
                      </a:pPr>
                      <a:r>
                        <a:rPr lang="en-US" sz="1200">
                          <a:effectLst/>
                        </a:rPr>
                        <a:t>System displays available dishes and prices</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955961921"/>
                  </a:ext>
                </a:extLst>
              </a:tr>
              <a:tr h="202349">
                <a:tc>
                  <a:txBody>
                    <a:bodyPr/>
                    <a:lstStyle/>
                    <a:p>
                      <a:pPr marL="0" marR="0">
                        <a:lnSpc>
                          <a:spcPct val="115000"/>
                        </a:lnSpc>
                        <a:spcAft>
                          <a:spcPts val="1000"/>
                        </a:spcAft>
                        <a:buNone/>
                      </a:pPr>
                      <a:r>
                        <a:rPr lang="en-US" sz="1200">
                          <a:effectLst/>
                        </a:rPr>
                        <a:t>Employee logs into the Canteen Ordering System</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921884097"/>
                  </a:ext>
                </a:extLst>
              </a:tr>
              <a:tr h="202349">
                <a:tc>
                  <a:txBody>
                    <a:bodyPr/>
                    <a:lstStyle/>
                    <a:p>
                      <a:pPr marL="0" marR="0">
                        <a:lnSpc>
                          <a:spcPct val="115000"/>
                        </a:lnSpc>
                        <a:spcAft>
                          <a:spcPts val="1000"/>
                        </a:spcAft>
                        <a:buNone/>
                      </a:pPr>
                      <a:r>
                        <a:rPr lang="en-US" sz="1200">
                          <a:effectLst/>
                        </a:rPr>
                        <a:t>Employee views daily menu</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019243552"/>
                  </a:ext>
                </a:extLst>
              </a:tr>
              <a:tr h="202349">
                <a:tc>
                  <a:txBody>
                    <a:bodyPr/>
                    <a:lstStyle/>
                    <a:p>
                      <a:pPr marL="0" marR="0">
                        <a:lnSpc>
                          <a:spcPct val="115000"/>
                        </a:lnSpc>
                        <a:spcAft>
                          <a:spcPts val="1000"/>
                        </a:spcAft>
                        <a:buNone/>
                      </a:pPr>
                      <a:r>
                        <a:rPr lang="en-US" sz="1200" dirty="0">
                          <a:effectLst/>
                        </a:rPr>
                        <a:t>Employee selects preferred lunch items</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262924580"/>
                  </a:ext>
                </a:extLst>
              </a:tr>
              <a:tr h="202349">
                <a:tc>
                  <a:txBody>
                    <a:bodyPr/>
                    <a:lstStyle/>
                    <a:p>
                      <a:pPr marL="0" marR="0">
                        <a:lnSpc>
                          <a:spcPct val="115000"/>
                        </a:lnSpc>
                        <a:spcAft>
                          <a:spcPts val="1000"/>
                        </a:spcAft>
                        <a:buNone/>
                      </a:pPr>
                      <a:r>
                        <a:rPr lang="en-US" sz="1200">
                          <a:effectLst/>
                        </a:rPr>
                        <a:t>Employee reviews order total</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484676440"/>
                  </a:ext>
                </a:extLst>
              </a:tr>
              <a:tr h="202349">
                <a:tc>
                  <a:txBody>
                    <a:bodyPr/>
                    <a:lstStyle/>
                    <a:p>
                      <a:pPr marL="0" marR="0">
                        <a:lnSpc>
                          <a:spcPct val="115000"/>
                        </a:lnSpc>
                        <a:spcAft>
                          <a:spcPts val="1000"/>
                        </a:spcAft>
                        <a:buNone/>
                      </a:pPr>
                      <a:r>
                        <a:rPr lang="en-US" sz="1200">
                          <a:effectLst/>
                        </a:rPr>
                        <a:t>Employee edits order before checkout, if needed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969019685"/>
                  </a:ext>
                </a:extLst>
              </a:tr>
              <a:tr h="202349">
                <a:tc>
                  <a:txBody>
                    <a:bodyPr/>
                    <a:lstStyle/>
                    <a:p>
                      <a:pPr marL="0" marR="0">
                        <a:lnSpc>
                          <a:spcPct val="115000"/>
                        </a:lnSpc>
                        <a:spcAft>
                          <a:spcPts val="1000"/>
                        </a:spcAft>
                        <a:buNone/>
                      </a:pPr>
                      <a:r>
                        <a:rPr lang="en-US" sz="1200">
                          <a:effectLst/>
                        </a:rPr>
                        <a:t>System checks the order time</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935702553"/>
                  </a:ext>
                </a:extLst>
              </a:tr>
              <a:tr h="417327">
                <a:tc>
                  <a:txBody>
                    <a:bodyPr/>
                    <a:lstStyle/>
                    <a:p>
                      <a:pPr marL="0" marR="0">
                        <a:lnSpc>
                          <a:spcPct val="115000"/>
                        </a:lnSpc>
                        <a:spcAft>
                          <a:spcPts val="1000"/>
                        </a:spcAft>
                        <a:buNone/>
                      </a:pPr>
                      <a:r>
                        <a:rPr lang="en-US" sz="1200">
                          <a:effectLst/>
                        </a:rPr>
                        <a:t>Decision: Is the order placed before 11am? If No, system rejects the order and employee receives deadline message. If Yes, employee confirms order.</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9597210"/>
                  </a:ext>
                </a:extLst>
              </a:tr>
              <a:tr h="202349">
                <a:tc>
                  <a:txBody>
                    <a:bodyPr/>
                    <a:lstStyle/>
                    <a:p>
                      <a:pPr marL="0" marR="0">
                        <a:lnSpc>
                          <a:spcPct val="115000"/>
                        </a:lnSpc>
                        <a:spcAft>
                          <a:spcPts val="1000"/>
                        </a:spcAft>
                        <a:buNone/>
                      </a:pPr>
                      <a:r>
                        <a:rPr lang="en-US" sz="1200">
                          <a:effectLst/>
                        </a:rPr>
                        <a:t>System locks the order from further editing or cancellation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506011354"/>
                  </a:ext>
                </a:extLst>
              </a:tr>
              <a:tr h="202349">
                <a:tc>
                  <a:txBody>
                    <a:bodyPr/>
                    <a:lstStyle/>
                    <a:p>
                      <a:pPr marL="0" marR="0">
                        <a:lnSpc>
                          <a:spcPct val="115000"/>
                        </a:lnSpc>
                        <a:spcAft>
                          <a:spcPts val="1000"/>
                        </a:spcAft>
                        <a:buNone/>
                      </a:pPr>
                      <a:r>
                        <a:rPr lang="en-US" sz="1200" dirty="0">
                          <a:effectLst/>
                        </a:rPr>
                        <a:t>System records confirmed order</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87913897"/>
                  </a:ext>
                </a:extLst>
              </a:tr>
              <a:tr h="202349">
                <a:tc>
                  <a:txBody>
                    <a:bodyPr/>
                    <a:lstStyle/>
                    <a:p>
                      <a:pPr marL="0" marR="0">
                        <a:lnSpc>
                          <a:spcPct val="115000"/>
                        </a:lnSpc>
                        <a:spcAft>
                          <a:spcPts val="1000"/>
                        </a:spcAft>
                        <a:buNone/>
                      </a:pPr>
                      <a:r>
                        <a:rPr lang="en-US" sz="1200" dirty="0">
                          <a:effectLst/>
                        </a:rPr>
                        <a:t>Canteen Manager views all confirmed orders</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343923864"/>
                  </a:ext>
                </a:extLst>
              </a:tr>
              <a:tr h="202349">
                <a:tc>
                  <a:txBody>
                    <a:bodyPr/>
                    <a:lstStyle/>
                    <a:p>
                      <a:pPr marL="0" marR="0">
                        <a:lnSpc>
                          <a:spcPct val="115000"/>
                        </a:lnSpc>
                        <a:spcAft>
                          <a:spcPts val="1000"/>
                        </a:spcAft>
                        <a:buNone/>
                      </a:pPr>
                      <a:r>
                        <a:rPr lang="en-US" sz="1200">
                          <a:effectLst/>
                        </a:rPr>
                        <a:t>Canteen Manager reviews total dishes ordered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61521840"/>
                  </a:ext>
                </a:extLst>
              </a:tr>
              <a:tr h="202349">
                <a:tc>
                  <a:txBody>
                    <a:bodyPr/>
                    <a:lstStyle/>
                    <a:p>
                      <a:pPr marL="0" marR="0">
                        <a:lnSpc>
                          <a:spcPct val="115000"/>
                        </a:lnSpc>
                        <a:spcAft>
                          <a:spcPts val="1000"/>
                        </a:spcAft>
                        <a:buNone/>
                      </a:pPr>
                      <a:r>
                        <a:rPr lang="en-US" sz="1200">
                          <a:effectLst/>
                        </a:rPr>
                        <a:t>Kitchen Staff prepares meals based on confirmed order summary</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553079634"/>
                  </a:ext>
                </a:extLst>
              </a:tr>
              <a:tr h="202349">
                <a:tc>
                  <a:txBody>
                    <a:bodyPr/>
                    <a:lstStyle/>
                    <a:p>
                      <a:pPr marL="0" marR="0">
                        <a:lnSpc>
                          <a:spcPct val="115000"/>
                        </a:lnSpc>
                        <a:spcAft>
                          <a:spcPts val="1000"/>
                        </a:spcAft>
                        <a:buNone/>
                      </a:pPr>
                      <a:r>
                        <a:rPr lang="en-US" sz="1200">
                          <a:effectLst/>
                        </a:rPr>
                        <a:t>Canteen Manager marks meals ready for delivery</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943339898"/>
                  </a:ext>
                </a:extLst>
              </a:tr>
              <a:tr h="202349">
                <a:tc>
                  <a:txBody>
                    <a:bodyPr/>
                    <a:lstStyle/>
                    <a:p>
                      <a:pPr marL="0" marR="0">
                        <a:lnSpc>
                          <a:spcPct val="115000"/>
                        </a:lnSpc>
                        <a:spcAft>
                          <a:spcPts val="1000"/>
                        </a:spcAft>
                        <a:buNone/>
                      </a:pPr>
                      <a:r>
                        <a:rPr lang="en-US" sz="1200">
                          <a:effectLst/>
                        </a:rPr>
                        <a:t>Canteen Manager assigns delivery</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801505681"/>
                  </a:ext>
                </a:extLst>
              </a:tr>
              <a:tr h="202349">
                <a:tc>
                  <a:txBody>
                    <a:bodyPr/>
                    <a:lstStyle/>
                    <a:p>
                      <a:pPr marL="0" marR="0">
                        <a:lnSpc>
                          <a:spcPct val="115000"/>
                        </a:lnSpc>
                        <a:spcAft>
                          <a:spcPts val="1000"/>
                        </a:spcAft>
                        <a:buNone/>
                      </a:pPr>
                      <a:r>
                        <a:rPr lang="en-US" sz="1200">
                          <a:effectLst/>
                        </a:rPr>
                        <a:t>Delivery Boy delivers meal to employee workstation</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42135557"/>
                  </a:ext>
                </a:extLst>
              </a:tr>
              <a:tr h="202349">
                <a:tc>
                  <a:txBody>
                    <a:bodyPr/>
                    <a:lstStyle/>
                    <a:p>
                      <a:pPr marL="0" marR="0">
                        <a:lnSpc>
                          <a:spcPct val="115000"/>
                        </a:lnSpc>
                        <a:spcAft>
                          <a:spcPts val="1000"/>
                        </a:spcAft>
                        <a:buNone/>
                      </a:pPr>
                      <a:r>
                        <a:rPr lang="en-US" sz="1200">
                          <a:effectLst/>
                        </a:rPr>
                        <a:t>Delivery Boy closes the order in the system</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277454174"/>
                  </a:ext>
                </a:extLst>
              </a:tr>
              <a:tr h="202349">
                <a:tc>
                  <a:txBody>
                    <a:bodyPr/>
                    <a:lstStyle/>
                    <a:p>
                      <a:pPr marL="0" marR="0">
                        <a:lnSpc>
                          <a:spcPct val="115000"/>
                        </a:lnSpc>
                        <a:spcAft>
                          <a:spcPts val="1000"/>
                        </a:spcAft>
                        <a:buNone/>
                      </a:pPr>
                      <a:r>
                        <a:rPr lang="en-US" sz="1200">
                          <a:effectLst/>
                        </a:rPr>
                        <a:t>System updates order status to Delivered</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627022963"/>
                  </a:ext>
                </a:extLst>
              </a:tr>
              <a:tr h="202349">
                <a:tc>
                  <a:txBody>
                    <a:bodyPr/>
                    <a:lstStyle/>
                    <a:p>
                      <a:pPr marL="0" marR="0">
                        <a:lnSpc>
                          <a:spcPct val="115000"/>
                        </a:lnSpc>
                        <a:spcAft>
                          <a:spcPts val="1000"/>
                        </a:spcAft>
                        <a:buNone/>
                      </a:pPr>
                      <a:r>
                        <a:rPr lang="en-US" sz="1200">
                          <a:effectLst/>
                        </a:rPr>
                        <a:t>Employee submits feedback, if necessary</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15043971"/>
                  </a:ext>
                </a:extLst>
              </a:tr>
              <a:tr h="202349">
                <a:tc>
                  <a:txBody>
                    <a:bodyPr/>
                    <a:lstStyle/>
                    <a:p>
                      <a:pPr marL="0" marR="0">
                        <a:lnSpc>
                          <a:spcPct val="115000"/>
                        </a:lnSpc>
                        <a:spcAft>
                          <a:spcPts val="1000"/>
                        </a:spcAft>
                        <a:buNone/>
                      </a:pPr>
                      <a:r>
                        <a:rPr lang="en-US" sz="1200">
                          <a:effectLst/>
                        </a:rPr>
                        <a:t>System records feedback</a:t>
                      </a:r>
                      <a:endParaRPr lang="en-US" sz="120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3115359179"/>
                  </a:ext>
                </a:extLst>
              </a:tr>
              <a:tr h="202349">
                <a:tc>
                  <a:txBody>
                    <a:bodyPr/>
                    <a:lstStyle/>
                    <a:p>
                      <a:pPr marL="0" marR="0">
                        <a:lnSpc>
                          <a:spcPct val="115000"/>
                        </a:lnSpc>
                        <a:spcAft>
                          <a:spcPts val="1000"/>
                        </a:spcAft>
                        <a:buNone/>
                      </a:pPr>
                      <a:r>
                        <a:rPr lang="en-US" sz="1200" dirty="0">
                          <a:effectLst/>
                        </a:rPr>
                        <a:t>At month end, system generates meal deduction report</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472673175"/>
                  </a:ext>
                </a:extLst>
              </a:tr>
              <a:tr h="202349">
                <a:tc>
                  <a:txBody>
                    <a:bodyPr/>
                    <a:lstStyle/>
                    <a:p>
                      <a:pPr marL="0" marR="0">
                        <a:lnSpc>
                          <a:spcPct val="115000"/>
                        </a:lnSpc>
                        <a:spcAft>
                          <a:spcPts val="1000"/>
                        </a:spcAft>
                        <a:buNone/>
                      </a:pPr>
                      <a:r>
                        <a:rPr lang="en-US" sz="1200" dirty="0">
                          <a:effectLst/>
                        </a:rPr>
                        <a:t>Payroll reviews monthly meal deduction report</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42864462"/>
                  </a:ext>
                </a:extLst>
              </a:tr>
              <a:tr h="202349">
                <a:tc>
                  <a:txBody>
                    <a:bodyPr/>
                    <a:lstStyle/>
                    <a:p>
                      <a:pPr marL="0" marR="0">
                        <a:lnSpc>
                          <a:spcPct val="115000"/>
                        </a:lnSpc>
                        <a:spcAft>
                          <a:spcPts val="1000"/>
                        </a:spcAft>
                        <a:buNone/>
                      </a:pPr>
                      <a:r>
                        <a:rPr lang="en-US" sz="1200" dirty="0">
                          <a:effectLst/>
                        </a:rPr>
                        <a:t>Payroll deducts total meal cost from employee salary</a:t>
                      </a:r>
                      <a:endParaRPr lang="en-US" sz="1200" dirty="0">
                        <a:effectLst/>
                        <a:latin typeface="Calibri" panose="020F0502020204030204" pitchFamily="34" charset="0"/>
                        <a:ea typeface="MS Mincho" panose="02020609040205080304" pitchFamily="49" charset="-128"/>
                        <a:cs typeface="Times New Roman" panose="02020603050405020304" pitchFamily="18" charset="0"/>
                      </a:endParaRPr>
                    </a:p>
                  </a:txBody>
                  <a:tcPr marL="68580" marR="68580" marT="0" marB="0" anchor="ctr"/>
                </a:tc>
                <a:extLst>
                  <a:ext uri="{0D108BD9-81ED-4DB2-BD59-A6C34878D82A}">
                    <a16:rowId xmlns:a16="http://schemas.microsoft.com/office/drawing/2014/main" val="4075339558"/>
                  </a:ext>
                </a:extLst>
              </a:tr>
            </a:tbl>
          </a:graphicData>
        </a:graphic>
      </p:graphicFrame>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05 &amp; 08 · REQUIREMENTS &amp; USER STORIES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What the System Must Do</a:t>
            </a:r>
            <a:endParaRPr lang="en-US" sz="3000" dirty="0"/>
          </a:p>
        </p:txBody>
      </p:sp>
      <p:sp>
        <p:nvSpPr>
          <p:cNvPr id="4" name="Shape 2"/>
          <p:cNvSpPr/>
          <p:nvPr/>
        </p:nvSpPr>
        <p:spPr>
          <a:xfrm>
            <a:off x="548640" y="1920240"/>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5" name="Shape 3"/>
          <p:cNvSpPr/>
          <p:nvPr/>
        </p:nvSpPr>
        <p:spPr>
          <a:xfrm>
            <a:off x="731520" y="2103120"/>
            <a:ext cx="457200" cy="457200"/>
          </a:xfrm>
          <a:prstGeom prst="roundRect">
            <a:avLst>
              <a:gd name="adj" fmla="val 16000"/>
            </a:avLst>
          </a:prstGeom>
          <a:solidFill>
            <a:srgbClr val="1E2761"/>
          </a:solidFill>
          <a:ln/>
        </p:spPr>
        <p:txBody>
          <a:bodyPr/>
          <a:lstStyle/>
          <a:p>
            <a:endParaRPr lang="en-US"/>
          </a:p>
        </p:txBody>
      </p:sp>
      <p:sp>
        <p:nvSpPr>
          <p:cNvPr id="6" name="Text 4"/>
          <p:cNvSpPr/>
          <p:nvPr/>
        </p:nvSpPr>
        <p:spPr>
          <a:xfrm>
            <a:off x="731520" y="2103120"/>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1</a:t>
            </a:r>
            <a:endParaRPr lang="en-US" sz="1600" dirty="0"/>
          </a:p>
        </p:txBody>
      </p:sp>
      <p:sp>
        <p:nvSpPr>
          <p:cNvPr id="7" name="Text 5"/>
          <p:cNvSpPr/>
          <p:nvPr/>
        </p:nvSpPr>
        <p:spPr>
          <a:xfrm>
            <a:off x="731520" y="2697480"/>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Secure Access</a:t>
            </a:r>
            <a:endParaRPr lang="en-US" sz="1600" dirty="0"/>
          </a:p>
        </p:txBody>
      </p:sp>
      <p:sp>
        <p:nvSpPr>
          <p:cNvPr id="8" name="Text 6"/>
          <p:cNvSpPr/>
          <p:nvPr/>
        </p:nvSpPr>
        <p:spPr>
          <a:xfrm>
            <a:off x="731520" y="3154680"/>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Company-credential login; role-based, authorised access only</a:t>
            </a:r>
            <a:endParaRPr lang="en-US" sz="1400" dirty="0"/>
          </a:p>
        </p:txBody>
      </p:sp>
      <p:sp>
        <p:nvSpPr>
          <p:cNvPr id="9" name="Shape 7"/>
          <p:cNvSpPr/>
          <p:nvPr/>
        </p:nvSpPr>
        <p:spPr>
          <a:xfrm>
            <a:off x="3383280" y="1920240"/>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10" name="Shape 8"/>
          <p:cNvSpPr/>
          <p:nvPr/>
        </p:nvSpPr>
        <p:spPr>
          <a:xfrm>
            <a:off x="3566160" y="2103120"/>
            <a:ext cx="457200" cy="457200"/>
          </a:xfrm>
          <a:prstGeom prst="roundRect">
            <a:avLst>
              <a:gd name="adj" fmla="val 16000"/>
            </a:avLst>
          </a:prstGeom>
          <a:solidFill>
            <a:srgbClr val="1E2761"/>
          </a:solidFill>
          <a:ln/>
        </p:spPr>
        <p:txBody>
          <a:bodyPr/>
          <a:lstStyle/>
          <a:p>
            <a:endParaRPr lang="en-US"/>
          </a:p>
        </p:txBody>
      </p:sp>
      <p:sp>
        <p:nvSpPr>
          <p:cNvPr id="11" name="Text 9"/>
          <p:cNvSpPr/>
          <p:nvPr/>
        </p:nvSpPr>
        <p:spPr>
          <a:xfrm>
            <a:off x="3566160" y="2103120"/>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2</a:t>
            </a:r>
            <a:endParaRPr lang="en-US" sz="1600" dirty="0"/>
          </a:p>
        </p:txBody>
      </p:sp>
      <p:sp>
        <p:nvSpPr>
          <p:cNvPr id="12" name="Text 10"/>
          <p:cNvSpPr/>
          <p:nvPr/>
        </p:nvSpPr>
        <p:spPr>
          <a:xfrm>
            <a:off x="3566160" y="2697480"/>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Daily Menu &amp; Pricing</a:t>
            </a:r>
            <a:endParaRPr lang="en-US" sz="1600" dirty="0"/>
          </a:p>
        </p:txBody>
      </p:sp>
      <p:sp>
        <p:nvSpPr>
          <p:cNvPr id="13" name="Text 11"/>
          <p:cNvSpPr/>
          <p:nvPr/>
        </p:nvSpPr>
        <p:spPr>
          <a:xfrm>
            <a:off x="3566160" y="3154680"/>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View dishes, prices and availability updated by the Menu Manager</a:t>
            </a:r>
            <a:endParaRPr lang="en-US" sz="1400" dirty="0"/>
          </a:p>
        </p:txBody>
      </p:sp>
      <p:sp>
        <p:nvSpPr>
          <p:cNvPr id="14" name="Shape 12"/>
          <p:cNvSpPr/>
          <p:nvPr/>
        </p:nvSpPr>
        <p:spPr>
          <a:xfrm>
            <a:off x="6217920" y="1920240"/>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15" name="Shape 13"/>
          <p:cNvSpPr/>
          <p:nvPr/>
        </p:nvSpPr>
        <p:spPr>
          <a:xfrm>
            <a:off x="6400800" y="2103120"/>
            <a:ext cx="457200" cy="457200"/>
          </a:xfrm>
          <a:prstGeom prst="roundRect">
            <a:avLst>
              <a:gd name="adj" fmla="val 16000"/>
            </a:avLst>
          </a:prstGeom>
          <a:solidFill>
            <a:srgbClr val="1E2761"/>
          </a:solidFill>
          <a:ln/>
        </p:spPr>
        <p:txBody>
          <a:bodyPr/>
          <a:lstStyle/>
          <a:p>
            <a:endParaRPr lang="en-US"/>
          </a:p>
        </p:txBody>
      </p:sp>
      <p:sp>
        <p:nvSpPr>
          <p:cNvPr id="16" name="Text 14"/>
          <p:cNvSpPr/>
          <p:nvPr/>
        </p:nvSpPr>
        <p:spPr>
          <a:xfrm>
            <a:off x="6400800" y="2103120"/>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3</a:t>
            </a:r>
            <a:endParaRPr lang="en-US" sz="1600" dirty="0"/>
          </a:p>
        </p:txBody>
      </p:sp>
      <p:sp>
        <p:nvSpPr>
          <p:cNvPr id="17" name="Text 15"/>
          <p:cNvSpPr/>
          <p:nvPr/>
        </p:nvSpPr>
        <p:spPr>
          <a:xfrm>
            <a:off x="6400800" y="2697480"/>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Order &amp; Checkout</a:t>
            </a:r>
            <a:endParaRPr lang="en-US" sz="1600" dirty="0"/>
          </a:p>
        </p:txBody>
      </p:sp>
      <p:sp>
        <p:nvSpPr>
          <p:cNvPr id="18" name="Text 16"/>
          <p:cNvSpPr/>
          <p:nvPr/>
        </p:nvSpPr>
        <p:spPr>
          <a:xfrm>
            <a:off x="6400800" y="3154680"/>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Select, edit and confirm meals before the 11am cut-off</a:t>
            </a:r>
            <a:endParaRPr lang="en-US" sz="1400" dirty="0"/>
          </a:p>
        </p:txBody>
      </p:sp>
      <p:sp>
        <p:nvSpPr>
          <p:cNvPr id="19" name="Shape 17"/>
          <p:cNvSpPr/>
          <p:nvPr/>
        </p:nvSpPr>
        <p:spPr>
          <a:xfrm>
            <a:off x="9052560" y="1920240"/>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20" name="Shape 18"/>
          <p:cNvSpPr/>
          <p:nvPr/>
        </p:nvSpPr>
        <p:spPr>
          <a:xfrm>
            <a:off x="9235440" y="2103120"/>
            <a:ext cx="457200" cy="457200"/>
          </a:xfrm>
          <a:prstGeom prst="roundRect">
            <a:avLst>
              <a:gd name="adj" fmla="val 16000"/>
            </a:avLst>
          </a:prstGeom>
          <a:solidFill>
            <a:srgbClr val="1E2761"/>
          </a:solidFill>
          <a:ln/>
        </p:spPr>
        <p:txBody>
          <a:bodyPr/>
          <a:lstStyle/>
          <a:p>
            <a:endParaRPr lang="en-US"/>
          </a:p>
        </p:txBody>
      </p:sp>
      <p:sp>
        <p:nvSpPr>
          <p:cNvPr id="21" name="Text 19"/>
          <p:cNvSpPr/>
          <p:nvPr/>
        </p:nvSpPr>
        <p:spPr>
          <a:xfrm>
            <a:off x="9235440" y="2103120"/>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4</a:t>
            </a:r>
            <a:endParaRPr lang="en-US" sz="1600" dirty="0"/>
          </a:p>
        </p:txBody>
      </p:sp>
      <p:sp>
        <p:nvSpPr>
          <p:cNvPr id="22" name="Text 20"/>
          <p:cNvSpPr/>
          <p:nvPr/>
        </p:nvSpPr>
        <p:spPr>
          <a:xfrm>
            <a:off x="9235440" y="2697480"/>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Order Locking</a:t>
            </a:r>
            <a:endParaRPr lang="en-US" sz="1600" dirty="0"/>
          </a:p>
        </p:txBody>
      </p:sp>
      <p:sp>
        <p:nvSpPr>
          <p:cNvPr id="23" name="Text 21"/>
          <p:cNvSpPr/>
          <p:nvPr/>
        </p:nvSpPr>
        <p:spPr>
          <a:xfrm>
            <a:off x="9235440" y="3154680"/>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Orders lock after checkout and the deadline is enforced automatically</a:t>
            </a:r>
            <a:endParaRPr lang="en-US" sz="1400" dirty="0"/>
          </a:p>
        </p:txBody>
      </p:sp>
      <p:sp>
        <p:nvSpPr>
          <p:cNvPr id="24" name="Shape 22"/>
          <p:cNvSpPr/>
          <p:nvPr/>
        </p:nvSpPr>
        <p:spPr>
          <a:xfrm>
            <a:off x="548640" y="4215384"/>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25" name="Shape 23"/>
          <p:cNvSpPr/>
          <p:nvPr/>
        </p:nvSpPr>
        <p:spPr>
          <a:xfrm>
            <a:off x="731520" y="4398264"/>
            <a:ext cx="457200" cy="457200"/>
          </a:xfrm>
          <a:prstGeom prst="roundRect">
            <a:avLst>
              <a:gd name="adj" fmla="val 16000"/>
            </a:avLst>
          </a:prstGeom>
          <a:solidFill>
            <a:srgbClr val="1E2761"/>
          </a:solidFill>
          <a:ln/>
        </p:spPr>
        <p:txBody>
          <a:bodyPr/>
          <a:lstStyle/>
          <a:p>
            <a:endParaRPr lang="en-US"/>
          </a:p>
        </p:txBody>
      </p:sp>
      <p:sp>
        <p:nvSpPr>
          <p:cNvPr id="26" name="Text 24"/>
          <p:cNvSpPr/>
          <p:nvPr/>
        </p:nvSpPr>
        <p:spPr>
          <a:xfrm>
            <a:off x="731520" y="4398264"/>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5</a:t>
            </a:r>
            <a:endParaRPr lang="en-US" sz="1600" dirty="0"/>
          </a:p>
        </p:txBody>
      </p:sp>
      <p:sp>
        <p:nvSpPr>
          <p:cNvPr id="27" name="Text 25"/>
          <p:cNvSpPr/>
          <p:nvPr/>
        </p:nvSpPr>
        <p:spPr>
          <a:xfrm>
            <a:off x="731520" y="4992624"/>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Kitchen Dashboard</a:t>
            </a:r>
            <a:endParaRPr lang="en-US" sz="1600" dirty="0"/>
          </a:p>
        </p:txBody>
      </p:sp>
      <p:sp>
        <p:nvSpPr>
          <p:cNvPr id="28" name="Text 26"/>
          <p:cNvSpPr/>
          <p:nvPr/>
        </p:nvSpPr>
        <p:spPr>
          <a:xfrm>
            <a:off x="731520" y="5449824"/>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Confirmed orders and dish-quantity summaries drive meal prep</a:t>
            </a:r>
            <a:endParaRPr lang="en-US" sz="1400" dirty="0"/>
          </a:p>
        </p:txBody>
      </p:sp>
      <p:sp>
        <p:nvSpPr>
          <p:cNvPr id="29" name="Shape 27"/>
          <p:cNvSpPr/>
          <p:nvPr/>
        </p:nvSpPr>
        <p:spPr>
          <a:xfrm>
            <a:off x="3383280" y="4215384"/>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30" name="Shape 28"/>
          <p:cNvSpPr/>
          <p:nvPr/>
        </p:nvSpPr>
        <p:spPr>
          <a:xfrm>
            <a:off x="3566160" y="4398264"/>
            <a:ext cx="457200" cy="457200"/>
          </a:xfrm>
          <a:prstGeom prst="roundRect">
            <a:avLst>
              <a:gd name="adj" fmla="val 16000"/>
            </a:avLst>
          </a:prstGeom>
          <a:solidFill>
            <a:srgbClr val="1E2761"/>
          </a:solidFill>
          <a:ln/>
        </p:spPr>
        <p:txBody>
          <a:bodyPr/>
          <a:lstStyle/>
          <a:p>
            <a:endParaRPr lang="en-US"/>
          </a:p>
        </p:txBody>
      </p:sp>
      <p:sp>
        <p:nvSpPr>
          <p:cNvPr id="31" name="Text 29"/>
          <p:cNvSpPr/>
          <p:nvPr/>
        </p:nvSpPr>
        <p:spPr>
          <a:xfrm>
            <a:off x="3566160" y="4398264"/>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6</a:t>
            </a:r>
            <a:endParaRPr lang="en-US" sz="1600" dirty="0"/>
          </a:p>
        </p:txBody>
      </p:sp>
      <p:sp>
        <p:nvSpPr>
          <p:cNvPr id="32" name="Text 30"/>
          <p:cNvSpPr/>
          <p:nvPr/>
        </p:nvSpPr>
        <p:spPr>
          <a:xfrm>
            <a:off x="3566160" y="4992624"/>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Delivery Workflow</a:t>
            </a:r>
            <a:endParaRPr lang="en-US" sz="1600" dirty="0"/>
          </a:p>
        </p:txBody>
      </p:sp>
      <p:sp>
        <p:nvSpPr>
          <p:cNvPr id="33" name="Text 31"/>
          <p:cNvSpPr/>
          <p:nvPr/>
        </p:nvSpPr>
        <p:spPr>
          <a:xfrm>
            <a:off x="3566160" y="5449824"/>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Assign, deliver, and close orders to the employee's workstation</a:t>
            </a:r>
            <a:endParaRPr lang="en-US" sz="1400" dirty="0"/>
          </a:p>
        </p:txBody>
      </p:sp>
      <p:sp>
        <p:nvSpPr>
          <p:cNvPr id="34" name="Shape 32"/>
          <p:cNvSpPr/>
          <p:nvPr/>
        </p:nvSpPr>
        <p:spPr>
          <a:xfrm>
            <a:off x="6217920" y="4215384"/>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35" name="Shape 33"/>
          <p:cNvSpPr/>
          <p:nvPr/>
        </p:nvSpPr>
        <p:spPr>
          <a:xfrm>
            <a:off x="6400800" y="4398264"/>
            <a:ext cx="457200" cy="457200"/>
          </a:xfrm>
          <a:prstGeom prst="roundRect">
            <a:avLst>
              <a:gd name="adj" fmla="val 16000"/>
            </a:avLst>
          </a:prstGeom>
          <a:solidFill>
            <a:srgbClr val="1E2761"/>
          </a:solidFill>
          <a:ln/>
        </p:spPr>
        <p:txBody>
          <a:bodyPr/>
          <a:lstStyle/>
          <a:p>
            <a:endParaRPr lang="en-US"/>
          </a:p>
        </p:txBody>
      </p:sp>
      <p:sp>
        <p:nvSpPr>
          <p:cNvPr id="36" name="Text 34"/>
          <p:cNvSpPr/>
          <p:nvPr/>
        </p:nvSpPr>
        <p:spPr>
          <a:xfrm>
            <a:off x="6400800" y="4398264"/>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7</a:t>
            </a:r>
            <a:endParaRPr lang="en-US" sz="1600" dirty="0"/>
          </a:p>
        </p:txBody>
      </p:sp>
      <p:sp>
        <p:nvSpPr>
          <p:cNvPr id="37" name="Text 35"/>
          <p:cNvSpPr/>
          <p:nvPr/>
        </p:nvSpPr>
        <p:spPr>
          <a:xfrm>
            <a:off x="6400800" y="4992624"/>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Feedback Loop</a:t>
            </a:r>
            <a:endParaRPr lang="en-US" sz="1600" dirty="0"/>
          </a:p>
        </p:txBody>
      </p:sp>
      <p:sp>
        <p:nvSpPr>
          <p:cNvPr id="38" name="Text 36"/>
          <p:cNvSpPr/>
          <p:nvPr/>
        </p:nvSpPr>
        <p:spPr>
          <a:xfrm>
            <a:off x="6400800" y="5449824"/>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Employees rate food and delivery to drive service improvement</a:t>
            </a:r>
            <a:endParaRPr lang="en-US" sz="1400" dirty="0"/>
          </a:p>
        </p:txBody>
      </p:sp>
      <p:sp>
        <p:nvSpPr>
          <p:cNvPr id="39" name="Shape 37"/>
          <p:cNvSpPr/>
          <p:nvPr/>
        </p:nvSpPr>
        <p:spPr>
          <a:xfrm>
            <a:off x="9052560" y="4215384"/>
            <a:ext cx="2688336" cy="2148840"/>
          </a:xfrm>
          <a:prstGeom prst="roundRect">
            <a:avLst>
              <a:gd name="adj" fmla="val 3404"/>
            </a:avLst>
          </a:prstGeom>
          <a:solidFill>
            <a:srgbClr val="F4F6FB"/>
          </a:solidFill>
          <a:ln w="12700">
            <a:solidFill>
              <a:srgbClr val="E3E7F0"/>
            </a:solidFill>
            <a:prstDash val="solid"/>
          </a:ln>
        </p:spPr>
        <p:txBody>
          <a:bodyPr/>
          <a:lstStyle/>
          <a:p>
            <a:endParaRPr lang="en-US"/>
          </a:p>
        </p:txBody>
      </p:sp>
      <p:sp>
        <p:nvSpPr>
          <p:cNvPr id="40" name="Shape 38"/>
          <p:cNvSpPr/>
          <p:nvPr/>
        </p:nvSpPr>
        <p:spPr>
          <a:xfrm>
            <a:off x="9235440" y="4398264"/>
            <a:ext cx="457200" cy="457200"/>
          </a:xfrm>
          <a:prstGeom prst="roundRect">
            <a:avLst>
              <a:gd name="adj" fmla="val 16000"/>
            </a:avLst>
          </a:prstGeom>
          <a:solidFill>
            <a:srgbClr val="1E2761"/>
          </a:solidFill>
          <a:ln/>
        </p:spPr>
        <p:txBody>
          <a:bodyPr/>
          <a:lstStyle/>
          <a:p>
            <a:endParaRPr lang="en-US"/>
          </a:p>
        </p:txBody>
      </p:sp>
      <p:sp>
        <p:nvSpPr>
          <p:cNvPr id="41" name="Text 39"/>
          <p:cNvSpPr/>
          <p:nvPr/>
        </p:nvSpPr>
        <p:spPr>
          <a:xfrm>
            <a:off x="9235440" y="4398264"/>
            <a:ext cx="457200" cy="457200"/>
          </a:xfrm>
          <a:prstGeom prst="rect">
            <a:avLst/>
          </a:prstGeom>
          <a:noFill/>
          <a:ln/>
        </p:spPr>
        <p:txBody>
          <a:bodyPr wrap="square" rtlCol="0" anchor="ctr"/>
          <a:lstStyle/>
          <a:p>
            <a:pPr marL="0" indent="0" algn="ctr">
              <a:buNone/>
            </a:pPr>
            <a:r>
              <a:rPr lang="en-US" sz="1600" b="1" dirty="0">
                <a:solidFill>
                  <a:srgbClr val="E8A33D"/>
                </a:solidFill>
                <a:latin typeface="Cambria" pitchFamily="34" charset="0"/>
                <a:ea typeface="Cambria" pitchFamily="34" charset="-122"/>
                <a:cs typeface="Cambria" pitchFamily="34" charset="-120"/>
              </a:rPr>
              <a:t>8</a:t>
            </a:r>
            <a:endParaRPr lang="en-US" sz="1600" dirty="0"/>
          </a:p>
        </p:txBody>
      </p:sp>
      <p:sp>
        <p:nvSpPr>
          <p:cNvPr id="42" name="Text 40"/>
          <p:cNvSpPr/>
          <p:nvPr/>
        </p:nvSpPr>
        <p:spPr>
          <a:xfrm>
            <a:off x="9235440" y="4992624"/>
            <a:ext cx="2322576" cy="457200"/>
          </a:xfrm>
          <a:prstGeom prst="rect">
            <a:avLst/>
          </a:prstGeom>
          <a:noFill/>
          <a:ln/>
        </p:spPr>
        <p:txBody>
          <a:bodyPr wrap="square" rtlCol="0" anchor="t"/>
          <a:lstStyle/>
          <a:p>
            <a:pPr marL="0" indent="0">
              <a:buNone/>
            </a:pPr>
            <a:r>
              <a:rPr lang="en-US" sz="1600" b="1" dirty="0">
                <a:solidFill>
                  <a:srgbClr val="1E2761"/>
                </a:solidFill>
                <a:latin typeface="Calibri" pitchFamily="34" charset="0"/>
                <a:ea typeface="Calibri" pitchFamily="34" charset="-122"/>
                <a:cs typeface="Calibri" pitchFamily="34" charset="-120"/>
              </a:rPr>
              <a:t>Payroll Reporting</a:t>
            </a:r>
            <a:endParaRPr lang="en-US" sz="1600" dirty="0"/>
          </a:p>
        </p:txBody>
      </p:sp>
      <p:sp>
        <p:nvSpPr>
          <p:cNvPr id="43" name="Text 41"/>
          <p:cNvSpPr/>
          <p:nvPr/>
        </p:nvSpPr>
        <p:spPr>
          <a:xfrm>
            <a:off x="9235440" y="5449824"/>
            <a:ext cx="2322576" cy="822960"/>
          </a:xfrm>
          <a:prstGeom prst="rect">
            <a:avLst/>
          </a:prstGeom>
          <a:noFill/>
          <a:ln/>
        </p:spPr>
        <p:txBody>
          <a:bodyPr wrap="square" rtlCol="0" anchor="t"/>
          <a:lstStyle/>
          <a:p>
            <a:pPr marL="0" indent="0">
              <a:lnSpc>
                <a:spcPct val="115000"/>
              </a:lnSpc>
              <a:buNone/>
            </a:pPr>
            <a:r>
              <a:rPr lang="en-US" sz="1400" dirty="0">
                <a:solidFill>
                  <a:srgbClr val="6B7280"/>
                </a:solidFill>
                <a:latin typeface="Calibri" pitchFamily="34" charset="0"/>
                <a:ea typeface="Calibri" pitchFamily="34" charset="-122"/>
                <a:cs typeface="Calibri" pitchFamily="34" charset="-120"/>
              </a:rPr>
              <a:t>Automatic monthly deduction report by employee and amount due</a:t>
            </a:r>
            <a:endParaRPr lang="en-US" sz="1400" dirty="0"/>
          </a:p>
        </p:txBody>
      </p:sp>
      <p:sp>
        <p:nvSpPr>
          <p:cNvPr id="44" name="Text 42"/>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45" name="Text 43"/>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10 · SPRINT PLAN</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Delivering in Three Two-Week Sprints</a:t>
            </a:r>
            <a:endParaRPr lang="en-US" sz="3000" dirty="0"/>
          </a:p>
        </p:txBody>
      </p:sp>
      <p:sp>
        <p:nvSpPr>
          <p:cNvPr id="4" name="Shape 2"/>
          <p:cNvSpPr/>
          <p:nvPr/>
        </p:nvSpPr>
        <p:spPr>
          <a:xfrm>
            <a:off x="548640" y="1965960"/>
            <a:ext cx="3639312" cy="4160520"/>
          </a:xfrm>
          <a:prstGeom prst="roundRect">
            <a:avLst>
              <a:gd name="adj" fmla="val 2261"/>
            </a:avLst>
          </a:prstGeom>
          <a:solidFill>
            <a:srgbClr val="F4F6FB"/>
          </a:solidFill>
          <a:ln w="12700">
            <a:solidFill>
              <a:srgbClr val="E3E7F0"/>
            </a:solidFill>
            <a:prstDash val="solid"/>
          </a:ln>
        </p:spPr>
        <p:txBody>
          <a:bodyPr/>
          <a:lstStyle/>
          <a:p>
            <a:endParaRPr lang="en-US" dirty="0"/>
          </a:p>
        </p:txBody>
      </p:sp>
      <p:sp>
        <p:nvSpPr>
          <p:cNvPr id="5" name="Text 3"/>
          <p:cNvSpPr/>
          <p:nvPr/>
        </p:nvSpPr>
        <p:spPr>
          <a:xfrm>
            <a:off x="804672" y="2194560"/>
            <a:ext cx="3127248" cy="274320"/>
          </a:xfrm>
          <a:prstGeom prst="rect">
            <a:avLst/>
          </a:prstGeom>
          <a:noFill/>
          <a:ln/>
        </p:spPr>
        <p:txBody>
          <a:bodyPr wrap="square" rtlCol="0" anchor="ctr"/>
          <a:lstStyle/>
          <a:p>
            <a:pPr marL="0" indent="0">
              <a:buNone/>
            </a:pPr>
            <a:r>
              <a:rPr lang="en-US" sz="1600" b="1" kern="0" spc="150" dirty="0">
                <a:solidFill>
                  <a:srgbClr val="E8A33D"/>
                </a:solidFill>
                <a:latin typeface="Calibri" pitchFamily="34" charset="0"/>
                <a:ea typeface="Calibri" pitchFamily="34" charset="-122"/>
                <a:cs typeface="Calibri" pitchFamily="34" charset="-120"/>
              </a:rPr>
              <a:t>SPRINT 1</a:t>
            </a:r>
            <a:endParaRPr lang="en-US" sz="1600" dirty="0"/>
          </a:p>
        </p:txBody>
      </p:sp>
      <p:sp>
        <p:nvSpPr>
          <p:cNvPr id="6" name="Text 4"/>
          <p:cNvSpPr/>
          <p:nvPr/>
        </p:nvSpPr>
        <p:spPr>
          <a:xfrm>
            <a:off x="804672" y="2487168"/>
            <a:ext cx="3127248" cy="77724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Menu &amp; Employee Ordering</a:t>
            </a:r>
            <a:endParaRPr lang="en-US" sz="1600" dirty="0"/>
          </a:p>
        </p:txBody>
      </p:sp>
      <p:sp>
        <p:nvSpPr>
          <p:cNvPr id="7" name="Text 5"/>
          <p:cNvSpPr/>
          <p:nvPr/>
        </p:nvSpPr>
        <p:spPr>
          <a:xfrm>
            <a:off x="804672" y="3291840"/>
            <a:ext cx="3127248" cy="1600200"/>
          </a:xfrm>
          <a:prstGeom prst="rect">
            <a:avLst/>
          </a:prstGeom>
          <a:noFill/>
          <a:ln/>
        </p:spPr>
        <p:txBody>
          <a:bodyPr wrap="square" rtlCol="0" anchor="t"/>
          <a:lstStyle/>
          <a:p>
            <a:pPr marL="0" indent="0">
              <a:lnSpc>
                <a:spcPct val="125000"/>
              </a:lnSpc>
              <a:buNone/>
            </a:pPr>
            <a:r>
              <a:rPr lang="en-US" sz="1400" dirty="0">
                <a:solidFill>
                  <a:srgbClr val="24272E"/>
                </a:solidFill>
                <a:latin typeface="Calibri" pitchFamily="34" charset="0"/>
                <a:ea typeface="Calibri" pitchFamily="34" charset="-122"/>
                <a:cs typeface="Calibri" pitchFamily="34" charset="-120"/>
              </a:rPr>
              <a:t>View daily menu, prices, place &amp; edit orders; menu management for the canteen team.</a:t>
            </a:r>
            <a:endParaRPr lang="en-US" sz="1400" dirty="0"/>
          </a:p>
        </p:txBody>
      </p:sp>
      <p:sp>
        <p:nvSpPr>
          <p:cNvPr id="8" name="Shape 6"/>
          <p:cNvSpPr/>
          <p:nvPr/>
        </p:nvSpPr>
        <p:spPr>
          <a:xfrm>
            <a:off x="804672" y="4983480"/>
            <a:ext cx="3127248" cy="0"/>
          </a:xfrm>
          <a:prstGeom prst="line">
            <a:avLst/>
          </a:prstGeom>
          <a:noFill/>
          <a:ln w="12700">
            <a:solidFill>
              <a:srgbClr val="D8DCE8"/>
            </a:solidFill>
            <a:prstDash val="solid"/>
          </a:ln>
        </p:spPr>
        <p:txBody>
          <a:bodyPr/>
          <a:lstStyle/>
          <a:p>
            <a:endParaRPr lang="en-US"/>
          </a:p>
        </p:txBody>
      </p:sp>
      <p:sp>
        <p:nvSpPr>
          <p:cNvPr id="9" name="Text 7"/>
          <p:cNvSpPr/>
          <p:nvPr/>
        </p:nvSpPr>
        <p:spPr>
          <a:xfrm>
            <a:off x="804672" y="5102352"/>
            <a:ext cx="3127248" cy="228600"/>
          </a:xfrm>
          <a:prstGeom prst="rect">
            <a:avLst/>
          </a:prstGeom>
          <a:noFill/>
          <a:ln/>
        </p:spPr>
        <p:txBody>
          <a:bodyPr wrap="square" rtlCol="0" anchor="ctr"/>
          <a:lstStyle/>
          <a:p>
            <a:pPr marL="0" indent="0">
              <a:buNone/>
            </a:pPr>
            <a:r>
              <a:rPr lang="en-US" sz="1600" b="1" kern="0" spc="100" dirty="0">
                <a:solidFill>
                  <a:srgbClr val="6B7280"/>
                </a:solidFill>
                <a:latin typeface="Calibri" pitchFamily="34" charset="0"/>
                <a:ea typeface="Calibri" pitchFamily="34" charset="-122"/>
                <a:cs typeface="Calibri" pitchFamily="34" charset="-120"/>
              </a:rPr>
              <a:t>USER STORIES</a:t>
            </a:r>
            <a:endParaRPr lang="en-US" sz="1600" dirty="0"/>
          </a:p>
        </p:txBody>
      </p:sp>
      <p:sp>
        <p:nvSpPr>
          <p:cNvPr id="10" name="Text 8"/>
          <p:cNvSpPr/>
          <p:nvPr/>
        </p:nvSpPr>
        <p:spPr>
          <a:xfrm>
            <a:off x="804672" y="5349240"/>
            <a:ext cx="3127248" cy="640080"/>
          </a:xfrm>
          <a:prstGeom prst="rect">
            <a:avLst/>
          </a:prstGeom>
          <a:noFill/>
          <a:ln/>
        </p:spPr>
        <p:txBody>
          <a:bodyPr wrap="square" rtlCol="0" anchor="t"/>
          <a:lstStyle/>
          <a:p>
            <a:pPr marL="0" indent="0">
              <a:buNone/>
            </a:pPr>
            <a:r>
              <a:rPr lang="en-US" sz="1400" dirty="0">
                <a:solidFill>
                  <a:srgbClr val="1E2761"/>
                </a:solidFill>
                <a:latin typeface="Calibri" pitchFamily="34" charset="0"/>
                <a:ea typeface="Calibri" pitchFamily="34" charset="-122"/>
                <a:cs typeface="Calibri" pitchFamily="34" charset="-120"/>
              </a:rPr>
              <a:t>UMOS6 · UMOS7 · UMOS8 · UMOS9 · UMOS13</a:t>
            </a:r>
            <a:endParaRPr lang="en-US" sz="1400" dirty="0"/>
          </a:p>
        </p:txBody>
      </p:sp>
      <p:sp>
        <p:nvSpPr>
          <p:cNvPr id="11" name="Shape 9"/>
          <p:cNvSpPr/>
          <p:nvPr/>
        </p:nvSpPr>
        <p:spPr>
          <a:xfrm>
            <a:off x="4357116" y="1965960"/>
            <a:ext cx="3639312" cy="4160520"/>
          </a:xfrm>
          <a:prstGeom prst="roundRect">
            <a:avLst>
              <a:gd name="adj" fmla="val 2261"/>
            </a:avLst>
          </a:prstGeom>
          <a:solidFill>
            <a:srgbClr val="1E2761"/>
          </a:solidFill>
          <a:ln/>
        </p:spPr>
        <p:txBody>
          <a:bodyPr/>
          <a:lstStyle/>
          <a:p>
            <a:endParaRPr lang="en-US"/>
          </a:p>
        </p:txBody>
      </p:sp>
      <p:sp>
        <p:nvSpPr>
          <p:cNvPr id="12" name="Text 10"/>
          <p:cNvSpPr/>
          <p:nvPr/>
        </p:nvSpPr>
        <p:spPr>
          <a:xfrm>
            <a:off x="4613148" y="2194560"/>
            <a:ext cx="3127248" cy="274320"/>
          </a:xfrm>
          <a:prstGeom prst="rect">
            <a:avLst/>
          </a:prstGeom>
          <a:noFill/>
          <a:ln/>
        </p:spPr>
        <p:txBody>
          <a:bodyPr wrap="square" rtlCol="0" anchor="ctr"/>
          <a:lstStyle/>
          <a:p>
            <a:pPr marL="0" indent="0">
              <a:buNone/>
            </a:pPr>
            <a:r>
              <a:rPr lang="en-US" sz="1600" b="1" kern="0" spc="150" dirty="0">
                <a:solidFill>
                  <a:srgbClr val="E8A33D"/>
                </a:solidFill>
                <a:latin typeface="Calibri" pitchFamily="34" charset="0"/>
                <a:ea typeface="Calibri" pitchFamily="34" charset="-122"/>
                <a:cs typeface="Calibri" pitchFamily="34" charset="-120"/>
              </a:rPr>
              <a:t>SPRINT 2</a:t>
            </a:r>
            <a:endParaRPr lang="en-US" sz="1600" dirty="0"/>
          </a:p>
        </p:txBody>
      </p:sp>
      <p:sp>
        <p:nvSpPr>
          <p:cNvPr id="13" name="Text 11"/>
          <p:cNvSpPr/>
          <p:nvPr/>
        </p:nvSpPr>
        <p:spPr>
          <a:xfrm>
            <a:off x="4613148" y="2487168"/>
            <a:ext cx="3127248" cy="777240"/>
          </a:xfrm>
          <a:prstGeom prst="rect">
            <a:avLst/>
          </a:prstGeom>
          <a:noFill/>
          <a:ln/>
        </p:spPr>
        <p:txBody>
          <a:bodyPr wrap="square" rtlCol="0" anchor="t"/>
          <a:lstStyle/>
          <a:p>
            <a:pPr marL="0" indent="0">
              <a:buNone/>
            </a:pPr>
            <a:r>
              <a:rPr lang="en-US" sz="1600" b="1" dirty="0">
                <a:solidFill>
                  <a:srgbClr val="FFFFFF"/>
                </a:solidFill>
                <a:latin typeface="Cambria" pitchFamily="34" charset="0"/>
                <a:ea typeface="Cambria" pitchFamily="34" charset="-122"/>
                <a:cs typeface="Cambria" pitchFamily="34" charset="-120"/>
              </a:rPr>
              <a:t>Checkout, Order Control &amp; Prep</a:t>
            </a:r>
            <a:endParaRPr lang="en-US" sz="1600" dirty="0"/>
          </a:p>
        </p:txBody>
      </p:sp>
      <p:sp>
        <p:nvSpPr>
          <p:cNvPr id="14" name="Text 12"/>
          <p:cNvSpPr/>
          <p:nvPr/>
        </p:nvSpPr>
        <p:spPr>
          <a:xfrm>
            <a:off x="4613148" y="3291840"/>
            <a:ext cx="3127248" cy="1600200"/>
          </a:xfrm>
          <a:prstGeom prst="rect">
            <a:avLst/>
          </a:prstGeom>
          <a:noFill/>
          <a:ln/>
        </p:spPr>
        <p:txBody>
          <a:bodyPr wrap="square" rtlCol="0" anchor="t"/>
          <a:lstStyle/>
          <a:p>
            <a:pPr marL="0" indent="0">
              <a:lnSpc>
                <a:spcPct val="125000"/>
              </a:lnSpc>
              <a:buNone/>
            </a:pPr>
            <a:r>
              <a:rPr lang="en-US" sz="1400" dirty="0">
                <a:solidFill>
                  <a:srgbClr val="CADCFC"/>
                </a:solidFill>
                <a:latin typeface="Calibri" pitchFamily="34" charset="0"/>
                <a:ea typeface="Calibri" pitchFamily="34" charset="-122"/>
                <a:cs typeface="Calibri" pitchFamily="34" charset="-120"/>
              </a:rPr>
              <a:t>Confirm orders before 11am, lock orders, enforce the deadline, and prepare meals from order summaries.</a:t>
            </a:r>
            <a:endParaRPr lang="en-US" sz="1400" dirty="0"/>
          </a:p>
        </p:txBody>
      </p:sp>
      <p:sp>
        <p:nvSpPr>
          <p:cNvPr id="15" name="Shape 13"/>
          <p:cNvSpPr/>
          <p:nvPr/>
        </p:nvSpPr>
        <p:spPr>
          <a:xfrm>
            <a:off x="4613148" y="4983480"/>
            <a:ext cx="3127248" cy="0"/>
          </a:xfrm>
          <a:prstGeom prst="line">
            <a:avLst/>
          </a:prstGeom>
          <a:noFill/>
          <a:ln w="12700">
            <a:solidFill>
              <a:srgbClr val="34407A"/>
            </a:solidFill>
            <a:prstDash val="solid"/>
          </a:ln>
        </p:spPr>
        <p:txBody>
          <a:bodyPr/>
          <a:lstStyle/>
          <a:p>
            <a:endParaRPr lang="en-US"/>
          </a:p>
        </p:txBody>
      </p:sp>
      <p:sp>
        <p:nvSpPr>
          <p:cNvPr id="16" name="Text 14"/>
          <p:cNvSpPr/>
          <p:nvPr/>
        </p:nvSpPr>
        <p:spPr>
          <a:xfrm>
            <a:off x="4613148" y="5102352"/>
            <a:ext cx="3127248" cy="228600"/>
          </a:xfrm>
          <a:prstGeom prst="rect">
            <a:avLst/>
          </a:prstGeom>
          <a:noFill/>
          <a:ln/>
        </p:spPr>
        <p:txBody>
          <a:bodyPr wrap="square" rtlCol="0" anchor="ctr"/>
          <a:lstStyle/>
          <a:p>
            <a:pPr marL="0" indent="0">
              <a:buNone/>
            </a:pPr>
            <a:r>
              <a:rPr lang="en-US" sz="1600" b="1" kern="0" spc="100" dirty="0">
                <a:solidFill>
                  <a:srgbClr val="CADCFC"/>
                </a:solidFill>
                <a:latin typeface="Calibri" pitchFamily="34" charset="0"/>
                <a:ea typeface="Calibri" pitchFamily="34" charset="-122"/>
                <a:cs typeface="Calibri" pitchFamily="34" charset="-120"/>
              </a:rPr>
              <a:t>USER STORIES</a:t>
            </a:r>
            <a:endParaRPr lang="en-US" sz="1600" dirty="0"/>
          </a:p>
        </p:txBody>
      </p:sp>
      <p:sp>
        <p:nvSpPr>
          <p:cNvPr id="17" name="Text 15"/>
          <p:cNvSpPr/>
          <p:nvPr/>
        </p:nvSpPr>
        <p:spPr>
          <a:xfrm>
            <a:off x="4613148" y="5349240"/>
            <a:ext cx="3127248" cy="640080"/>
          </a:xfrm>
          <a:prstGeom prst="rect">
            <a:avLst/>
          </a:prstGeom>
          <a:noFill/>
          <a:ln/>
        </p:spPr>
        <p:txBody>
          <a:bodyPr wrap="square" rtlCol="0" anchor="t"/>
          <a:lstStyle/>
          <a:p>
            <a:pPr marL="0" indent="0">
              <a:buNone/>
            </a:pPr>
            <a:r>
              <a:rPr lang="en-US" sz="1400" dirty="0">
                <a:solidFill>
                  <a:srgbClr val="FFFFFF"/>
                </a:solidFill>
                <a:latin typeface="Calibri" pitchFamily="34" charset="0"/>
                <a:ea typeface="Calibri" pitchFamily="34" charset="-122"/>
                <a:cs typeface="Calibri" pitchFamily="34" charset="-120"/>
              </a:rPr>
              <a:t>UMOS10 · UMOS11 · UMOS12 · UMOS14 · UMOS15 · UMOS16</a:t>
            </a:r>
            <a:endParaRPr lang="en-US" sz="1400" dirty="0"/>
          </a:p>
        </p:txBody>
      </p:sp>
      <p:sp>
        <p:nvSpPr>
          <p:cNvPr id="18" name="Shape 16"/>
          <p:cNvSpPr/>
          <p:nvPr/>
        </p:nvSpPr>
        <p:spPr>
          <a:xfrm>
            <a:off x="8165592" y="1965960"/>
            <a:ext cx="3639312" cy="4160520"/>
          </a:xfrm>
          <a:prstGeom prst="roundRect">
            <a:avLst>
              <a:gd name="adj" fmla="val 2261"/>
            </a:avLst>
          </a:prstGeom>
          <a:solidFill>
            <a:srgbClr val="F4F6FB"/>
          </a:solidFill>
          <a:ln w="12700">
            <a:solidFill>
              <a:srgbClr val="E3E7F0"/>
            </a:solidFill>
            <a:prstDash val="solid"/>
          </a:ln>
        </p:spPr>
        <p:txBody>
          <a:bodyPr/>
          <a:lstStyle/>
          <a:p>
            <a:endParaRPr lang="en-US"/>
          </a:p>
        </p:txBody>
      </p:sp>
      <p:sp>
        <p:nvSpPr>
          <p:cNvPr id="19" name="Text 17"/>
          <p:cNvSpPr/>
          <p:nvPr/>
        </p:nvSpPr>
        <p:spPr>
          <a:xfrm>
            <a:off x="8421624" y="2194560"/>
            <a:ext cx="3127248" cy="274320"/>
          </a:xfrm>
          <a:prstGeom prst="rect">
            <a:avLst/>
          </a:prstGeom>
          <a:noFill/>
          <a:ln/>
        </p:spPr>
        <p:txBody>
          <a:bodyPr wrap="square" rtlCol="0" anchor="ctr"/>
          <a:lstStyle/>
          <a:p>
            <a:pPr marL="0" indent="0">
              <a:buNone/>
            </a:pPr>
            <a:r>
              <a:rPr lang="en-US" sz="1600" b="1" kern="0" spc="150" dirty="0">
                <a:solidFill>
                  <a:srgbClr val="E8A33D"/>
                </a:solidFill>
                <a:latin typeface="Calibri" pitchFamily="34" charset="0"/>
                <a:ea typeface="Calibri" pitchFamily="34" charset="-122"/>
                <a:cs typeface="Calibri" pitchFamily="34" charset="-120"/>
              </a:rPr>
              <a:t>SPRINT 3</a:t>
            </a:r>
            <a:endParaRPr lang="en-US" sz="1600" dirty="0"/>
          </a:p>
        </p:txBody>
      </p:sp>
      <p:sp>
        <p:nvSpPr>
          <p:cNvPr id="20" name="Text 18"/>
          <p:cNvSpPr/>
          <p:nvPr/>
        </p:nvSpPr>
        <p:spPr>
          <a:xfrm>
            <a:off x="8421624" y="2487168"/>
            <a:ext cx="3127248" cy="777240"/>
          </a:xfrm>
          <a:prstGeom prst="rect">
            <a:avLst/>
          </a:prstGeom>
          <a:noFill/>
          <a:ln/>
        </p:spPr>
        <p:txBody>
          <a:bodyPr wrap="square" rtlCol="0" anchor="t"/>
          <a:lstStyle/>
          <a:p>
            <a:pPr marL="0" indent="0">
              <a:buNone/>
            </a:pPr>
            <a:r>
              <a:rPr lang="en-US" sz="1600" b="1" dirty="0">
                <a:solidFill>
                  <a:srgbClr val="1E2761"/>
                </a:solidFill>
                <a:latin typeface="Cambria" pitchFamily="34" charset="0"/>
                <a:ea typeface="Cambria" pitchFamily="34" charset="-122"/>
                <a:cs typeface="Cambria" pitchFamily="34" charset="-120"/>
              </a:rPr>
              <a:t>Delivery, Feedback, Payroll &amp; Access</a:t>
            </a:r>
            <a:endParaRPr lang="en-US" sz="1600" dirty="0"/>
          </a:p>
        </p:txBody>
      </p:sp>
      <p:sp>
        <p:nvSpPr>
          <p:cNvPr id="21" name="Text 19"/>
          <p:cNvSpPr/>
          <p:nvPr/>
        </p:nvSpPr>
        <p:spPr>
          <a:xfrm>
            <a:off x="8421624" y="3291840"/>
            <a:ext cx="3127248" cy="1600200"/>
          </a:xfrm>
          <a:prstGeom prst="rect">
            <a:avLst/>
          </a:prstGeom>
          <a:noFill/>
          <a:ln/>
        </p:spPr>
        <p:txBody>
          <a:bodyPr wrap="square" rtlCol="0" anchor="t"/>
          <a:lstStyle/>
          <a:p>
            <a:pPr marL="0" indent="0">
              <a:lnSpc>
                <a:spcPct val="125000"/>
              </a:lnSpc>
              <a:buNone/>
            </a:pPr>
            <a:r>
              <a:rPr lang="en-US" sz="1400" dirty="0">
                <a:solidFill>
                  <a:srgbClr val="24272E"/>
                </a:solidFill>
                <a:latin typeface="Calibri" pitchFamily="34" charset="0"/>
                <a:ea typeface="Calibri" pitchFamily="34" charset="-122"/>
                <a:cs typeface="Calibri" pitchFamily="34" charset="-120"/>
              </a:rPr>
              <a:t>Delivery assignment and closure, feedback capture, payroll deduction reporting and role management.</a:t>
            </a:r>
            <a:endParaRPr lang="en-US" sz="1400" dirty="0"/>
          </a:p>
        </p:txBody>
      </p:sp>
      <p:sp>
        <p:nvSpPr>
          <p:cNvPr id="22" name="Shape 20"/>
          <p:cNvSpPr/>
          <p:nvPr/>
        </p:nvSpPr>
        <p:spPr>
          <a:xfrm>
            <a:off x="8421624" y="4983480"/>
            <a:ext cx="3127248" cy="0"/>
          </a:xfrm>
          <a:prstGeom prst="line">
            <a:avLst/>
          </a:prstGeom>
          <a:noFill/>
          <a:ln w="12700">
            <a:solidFill>
              <a:srgbClr val="D8DCE8"/>
            </a:solidFill>
            <a:prstDash val="solid"/>
          </a:ln>
        </p:spPr>
        <p:txBody>
          <a:bodyPr/>
          <a:lstStyle/>
          <a:p>
            <a:endParaRPr lang="en-US"/>
          </a:p>
        </p:txBody>
      </p:sp>
      <p:sp>
        <p:nvSpPr>
          <p:cNvPr id="23" name="Text 21"/>
          <p:cNvSpPr/>
          <p:nvPr/>
        </p:nvSpPr>
        <p:spPr>
          <a:xfrm>
            <a:off x="8421624" y="5102352"/>
            <a:ext cx="3127248" cy="228600"/>
          </a:xfrm>
          <a:prstGeom prst="rect">
            <a:avLst/>
          </a:prstGeom>
          <a:noFill/>
          <a:ln/>
        </p:spPr>
        <p:txBody>
          <a:bodyPr wrap="square" rtlCol="0" anchor="ctr"/>
          <a:lstStyle/>
          <a:p>
            <a:pPr marL="0" indent="0">
              <a:buNone/>
            </a:pPr>
            <a:r>
              <a:rPr lang="en-US" sz="1600" b="1" kern="0" spc="100" dirty="0">
                <a:solidFill>
                  <a:srgbClr val="6B7280"/>
                </a:solidFill>
                <a:latin typeface="Calibri" pitchFamily="34" charset="0"/>
                <a:ea typeface="Calibri" pitchFamily="34" charset="-122"/>
                <a:cs typeface="Calibri" pitchFamily="34" charset="-120"/>
              </a:rPr>
              <a:t>USER STORIES</a:t>
            </a:r>
            <a:endParaRPr lang="en-US" sz="1600" dirty="0"/>
          </a:p>
        </p:txBody>
      </p:sp>
      <p:sp>
        <p:nvSpPr>
          <p:cNvPr id="24" name="Text 22"/>
          <p:cNvSpPr/>
          <p:nvPr/>
        </p:nvSpPr>
        <p:spPr>
          <a:xfrm>
            <a:off x="8421624" y="5349240"/>
            <a:ext cx="3127248" cy="640080"/>
          </a:xfrm>
          <a:prstGeom prst="rect">
            <a:avLst/>
          </a:prstGeom>
          <a:noFill/>
          <a:ln/>
        </p:spPr>
        <p:txBody>
          <a:bodyPr wrap="square" rtlCol="0" anchor="t"/>
          <a:lstStyle/>
          <a:p>
            <a:pPr marL="0" indent="0">
              <a:buNone/>
            </a:pPr>
            <a:r>
              <a:rPr lang="en-US" sz="1400" dirty="0">
                <a:solidFill>
                  <a:srgbClr val="1E2761"/>
                </a:solidFill>
                <a:latin typeface="Calibri" pitchFamily="34" charset="0"/>
                <a:ea typeface="Calibri" pitchFamily="34" charset="-122"/>
                <a:cs typeface="Calibri" pitchFamily="34" charset="-120"/>
              </a:rPr>
              <a:t>UMOS 17 · UMOS18 · UMOS19 · UMOS20 · UMOS21 · UMOS23. </a:t>
            </a:r>
            <a:endParaRPr lang="en-US" sz="1400" dirty="0"/>
          </a:p>
        </p:txBody>
      </p:sp>
      <p:sp>
        <p:nvSpPr>
          <p:cNvPr id="25" name="Text 23"/>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26" name="Text 24"/>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11 · JIRA SCREENSHOTS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Project Set-Up in Jira</a:t>
            </a:r>
            <a:endParaRPr lang="en-US" sz="3000" dirty="0"/>
          </a:p>
        </p:txBody>
      </p:sp>
      <p:sp>
        <p:nvSpPr>
          <p:cNvPr id="4" name="Text 2"/>
          <p:cNvSpPr/>
          <p:nvPr/>
        </p:nvSpPr>
        <p:spPr>
          <a:xfrm>
            <a:off x="548640" y="1261872"/>
            <a:ext cx="11064240" cy="457200"/>
          </a:xfrm>
          <a:prstGeom prst="rect">
            <a:avLst/>
          </a:prstGeom>
          <a:noFill/>
          <a:ln/>
        </p:spPr>
        <p:txBody>
          <a:bodyPr wrap="square"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Scrum board configured for the Canteen Ordering System</a:t>
            </a:r>
            <a:endParaRPr lang="en-US" sz="1350" dirty="0"/>
          </a:p>
        </p:txBody>
      </p:sp>
      <p:sp>
        <p:nvSpPr>
          <p:cNvPr id="5" name="Shape 3"/>
          <p:cNvSpPr/>
          <p:nvPr/>
        </p:nvSpPr>
        <p:spPr>
          <a:xfrm>
            <a:off x="1642720" y="1856232"/>
            <a:ext cx="8906256" cy="4858932"/>
          </a:xfrm>
          <a:prstGeom prst="roundRect">
            <a:avLst>
              <a:gd name="adj" fmla="val 1129"/>
            </a:avLst>
          </a:prstGeom>
          <a:solidFill>
            <a:srgbClr val="F4F6FB"/>
          </a:solidFill>
          <a:ln w="12700">
            <a:solidFill>
              <a:srgbClr val="E3E7F0"/>
            </a:solidFill>
            <a:prstDash val="solid"/>
          </a:ln>
        </p:spPr>
        <p:txBody>
          <a:bodyPr/>
          <a:lstStyle/>
          <a:p>
            <a:endParaRPr lang="en-US"/>
          </a:p>
        </p:txBody>
      </p:sp>
      <p:pic>
        <p:nvPicPr>
          <p:cNvPr id="6" name="Image 0" descr="images/jira_board.jpeg"/>
          <p:cNvPicPr>
            <a:picLocks noChangeAspect="1"/>
          </p:cNvPicPr>
          <p:nvPr/>
        </p:nvPicPr>
        <p:blipFill>
          <a:blip r:embed="rId3"/>
          <a:srcRect/>
          <a:stretch/>
        </p:blipFill>
        <p:spPr>
          <a:xfrm>
            <a:off x="1752448" y="1965960"/>
            <a:ext cx="8686800" cy="4639476"/>
          </a:xfrm>
          <a:prstGeom prst="rect">
            <a:avLst/>
          </a:prstGeom>
        </p:spPr>
      </p:pic>
      <p:sp>
        <p:nvSpPr>
          <p:cNvPr id="7" name="Text 4"/>
          <p:cNvSpPr/>
          <p:nvPr/>
        </p:nvSpPr>
        <p:spPr>
          <a:xfrm>
            <a:off x="548640" y="6925476"/>
            <a:ext cx="2743200" cy="228600"/>
          </a:xfrm>
          <a:prstGeom prst="rect">
            <a:avLst/>
          </a:prstGeom>
          <a:noFill/>
          <a:ln/>
        </p:spPr>
        <p:txBody>
          <a:bodyPr wrap="square" rtlCol="0" anchor="ctr"/>
          <a:lstStyle/>
          <a:p>
            <a:pPr marL="0" indent="0">
              <a:buNone/>
            </a:pPr>
            <a:r>
              <a:rPr lang="en-US" sz="900" b="1" kern="0" spc="100" dirty="0">
                <a:solidFill>
                  <a:srgbClr val="E8A33D"/>
                </a:solidFill>
                <a:latin typeface="Calibri" pitchFamily="34" charset="0"/>
                <a:ea typeface="Calibri" pitchFamily="34" charset="-122"/>
                <a:cs typeface="Calibri" pitchFamily="34" charset="-120"/>
              </a:rPr>
              <a:t>PROJECT KEY</a:t>
            </a:r>
            <a:endParaRPr lang="en-US" sz="900" dirty="0"/>
          </a:p>
        </p:txBody>
      </p:sp>
      <p:sp>
        <p:nvSpPr>
          <p:cNvPr id="8" name="Text 5"/>
          <p:cNvSpPr/>
          <p:nvPr/>
        </p:nvSpPr>
        <p:spPr>
          <a:xfrm>
            <a:off x="548640" y="7154076"/>
            <a:ext cx="274320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COS</a:t>
            </a:r>
            <a:endParaRPr lang="en-US" sz="1200" dirty="0"/>
          </a:p>
        </p:txBody>
      </p:sp>
      <p:sp>
        <p:nvSpPr>
          <p:cNvPr id="9" name="Text 6"/>
          <p:cNvSpPr/>
          <p:nvPr/>
        </p:nvSpPr>
        <p:spPr>
          <a:xfrm>
            <a:off x="3383280" y="6925476"/>
            <a:ext cx="2743200" cy="228600"/>
          </a:xfrm>
          <a:prstGeom prst="rect">
            <a:avLst/>
          </a:prstGeom>
          <a:noFill/>
          <a:ln/>
        </p:spPr>
        <p:txBody>
          <a:bodyPr wrap="square" rtlCol="0" anchor="ctr"/>
          <a:lstStyle/>
          <a:p>
            <a:pPr marL="0" indent="0">
              <a:buNone/>
            </a:pPr>
            <a:r>
              <a:rPr lang="en-US" sz="900" b="1" kern="0" spc="100" dirty="0">
                <a:solidFill>
                  <a:srgbClr val="E8A33D"/>
                </a:solidFill>
                <a:latin typeface="Calibri" pitchFamily="34" charset="0"/>
                <a:ea typeface="Calibri" pitchFamily="34" charset="-122"/>
                <a:cs typeface="Calibri" pitchFamily="34" charset="-120"/>
              </a:rPr>
              <a:t>BOARD TYPE</a:t>
            </a:r>
            <a:endParaRPr lang="en-US" sz="900" dirty="0"/>
          </a:p>
        </p:txBody>
      </p:sp>
      <p:sp>
        <p:nvSpPr>
          <p:cNvPr id="10" name="Text 7"/>
          <p:cNvSpPr/>
          <p:nvPr/>
        </p:nvSpPr>
        <p:spPr>
          <a:xfrm>
            <a:off x="3383280" y="7154076"/>
            <a:ext cx="274320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Scrum</a:t>
            </a:r>
            <a:endParaRPr lang="en-US" sz="1200" dirty="0"/>
          </a:p>
        </p:txBody>
      </p:sp>
      <p:sp>
        <p:nvSpPr>
          <p:cNvPr id="11" name="Text 8"/>
          <p:cNvSpPr/>
          <p:nvPr/>
        </p:nvSpPr>
        <p:spPr>
          <a:xfrm>
            <a:off x="6217920" y="6925476"/>
            <a:ext cx="2743200" cy="228600"/>
          </a:xfrm>
          <a:prstGeom prst="rect">
            <a:avLst/>
          </a:prstGeom>
          <a:noFill/>
          <a:ln/>
        </p:spPr>
        <p:txBody>
          <a:bodyPr wrap="square" rtlCol="0" anchor="ctr"/>
          <a:lstStyle/>
          <a:p>
            <a:pPr marL="0" indent="0">
              <a:buNone/>
            </a:pPr>
            <a:r>
              <a:rPr lang="en-US" sz="900" b="1" kern="0" spc="100" dirty="0">
                <a:solidFill>
                  <a:srgbClr val="E8A33D"/>
                </a:solidFill>
                <a:latin typeface="Calibri" pitchFamily="34" charset="0"/>
                <a:ea typeface="Calibri" pitchFamily="34" charset="-122"/>
                <a:cs typeface="Calibri" pitchFamily="34" charset="-120"/>
              </a:rPr>
              <a:t>SPRINT LENGTH</a:t>
            </a:r>
            <a:endParaRPr lang="en-US" sz="900" dirty="0"/>
          </a:p>
        </p:txBody>
      </p:sp>
      <p:sp>
        <p:nvSpPr>
          <p:cNvPr id="12" name="Text 9"/>
          <p:cNvSpPr/>
          <p:nvPr/>
        </p:nvSpPr>
        <p:spPr>
          <a:xfrm>
            <a:off x="6217920" y="7154076"/>
            <a:ext cx="274320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2 weeks</a:t>
            </a:r>
            <a:endParaRPr lang="en-US" sz="1200" dirty="0"/>
          </a:p>
        </p:txBody>
      </p:sp>
      <p:sp>
        <p:nvSpPr>
          <p:cNvPr id="13" name="Text 10"/>
          <p:cNvSpPr/>
          <p:nvPr/>
        </p:nvSpPr>
        <p:spPr>
          <a:xfrm>
            <a:off x="9052560" y="6925476"/>
            <a:ext cx="2743200" cy="228600"/>
          </a:xfrm>
          <a:prstGeom prst="rect">
            <a:avLst/>
          </a:prstGeom>
          <a:noFill/>
          <a:ln/>
        </p:spPr>
        <p:txBody>
          <a:bodyPr wrap="square" rtlCol="0" anchor="ctr"/>
          <a:lstStyle/>
          <a:p>
            <a:pPr marL="0" indent="0">
              <a:buNone/>
            </a:pPr>
            <a:r>
              <a:rPr lang="en-US" sz="900" b="1" kern="0" spc="100" dirty="0">
                <a:solidFill>
                  <a:srgbClr val="E8A33D"/>
                </a:solidFill>
                <a:latin typeface="Calibri" pitchFamily="34" charset="0"/>
                <a:ea typeface="Calibri" pitchFamily="34" charset="-122"/>
                <a:cs typeface="Calibri" pitchFamily="34" charset="-120"/>
              </a:rPr>
              <a:t>SPRINTS</a:t>
            </a:r>
            <a:endParaRPr lang="en-US" sz="900" dirty="0"/>
          </a:p>
        </p:txBody>
      </p:sp>
      <p:sp>
        <p:nvSpPr>
          <p:cNvPr id="14" name="Text 11"/>
          <p:cNvSpPr/>
          <p:nvPr/>
        </p:nvSpPr>
        <p:spPr>
          <a:xfrm>
            <a:off x="9052560" y="7154076"/>
            <a:ext cx="2743200" cy="274320"/>
          </a:xfrm>
          <a:prstGeom prst="rect">
            <a:avLst/>
          </a:prstGeom>
          <a:noFill/>
          <a:ln/>
        </p:spPr>
        <p:txBody>
          <a:bodyPr wrap="square" rtlCol="0" anchor="ctr"/>
          <a:lstStyle/>
          <a:p>
            <a:pPr marL="0" indent="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5" name="Text 12"/>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16" name="Text 13"/>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11 · JIRA SCREENSHOTS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Sprint Boards</a:t>
            </a:r>
            <a:endParaRPr lang="en-US" sz="3000" dirty="0"/>
          </a:p>
        </p:txBody>
      </p:sp>
      <p:sp>
        <p:nvSpPr>
          <p:cNvPr id="4" name="Text 2"/>
          <p:cNvSpPr/>
          <p:nvPr/>
        </p:nvSpPr>
        <p:spPr>
          <a:xfrm>
            <a:off x="548640" y="1261872"/>
            <a:ext cx="11064240" cy="457200"/>
          </a:xfrm>
          <a:prstGeom prst="rect">
            <a:avLst/>
          </a:prstGeom>
          <a:noFill/>
          <a:ln/>
        </p:spPr>
        <p:txBody>
          <a:bodyPr wrap="square"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Backlog broken down and tracked sprint by sprint</a:t>
            </a:r>
            <a:endParaRPr lang="en-US" sz="1350" dirty="0"/>
          </a:p>
        </p:txBody>
      </p:sp>
      <p:sp>
        <p:nvSpPr>
          <p:cNvPr id="5" name="Shape 3"/>
          <p:cNvSpPr/>
          <p:nvPr/>
        </p:nvSpPr>
        <p:spPr>
          <a:xfrm>
            <a:off x="548640" y="2057400"/>
            <a:ext cx="3611880" cy="3566160"/>
          </a:xfrm>
          <a:prstGeom prst="roundRect">
            <a:avLst>
              <a:gd name="adj" fmla="val 1538"/>
            </a:avLst>
          </a:prstGeom>
          <a:solidFill>
            <a:srgbClr val="F4F6FB"/>
          </a:solidFill>
          <a:ln w="12700">
            <a:solidFill>
              <a:srgbClr val="E3E7F0"/>
            </a:solidFill>
            <a:prstDash val="solid"/>
          </a:ln>
        </p:spPr>
        <p:txBody>
          <a:bodyPr/>
          <a:lstStyle/>
          <a:p>
            <a:endParaRPr lang="en-US"/>
          </a:p>
        </p:txBody>
      </p:sp>
      <p:sp>
        <p:nvSpPr>
          <p:cNvPr id="6" name="Text 4"/>
          <p:cNvSpPr/>
          <p:nvPr/>
        </p:nvSpPr>
        <p:spPr>
          <a:xfrm>
            <a:off x="685800" y="2167128"/>
            <a:ext cx="3337560" cy="274320"/>
          </a:xfrm>
          <a:prstGeom prst="rect">
            <a:avLst/>
          </a:prstGeom>
          <a:noFill/>
          <a:ln/>
        </p:spPr>
        <p:txBody>
          <a:bodyPr wrap="square" rtlCol="0" anchor="ctr"/>
          <a:lstStyle/>
          <a:p>
            <a:pPr marL="0" indent="0">
              <a:buNone/>
            </a:pPr>
            <a:r>
              <a:rPr lang="en-US" sz="1050" b="1" kern="0" spc="100" dirty="0">
                <a:solidFill>
                  <a:srgbClr val="1E2761"/>
                </a:solidFill>
                <a:latin typeface="Calibri" pitchFamily="34" charset="0"/>
                <a:ea typeface="Calibri" pitchFamily="34" charset="-122"/>
                <a:cs typeface="Calibri" pitchFamily="34" charset="-120"/>
              </a:rPr>
              <a:t>SPRINT 1</a:t>
            </a:r>
            <a:endParaRPr lang="en-US" sz="1050" dirty="0"/>
          </a:p>
        </p:txBody>
      </p:sp>
      <p:pic>
        <p:nvPicPr>
          <p:cNvPr id="7" name="Image 0" descr="images/sprint1.png"/>
          <p:cNvPicPr>
            <a:picLocks noChangeAspect="1"/>
          </p:cNvPicPr>
          <p:nvPr/>
        </p:nvPicPr>
        <p:blipFill>
          <a:blip r:embed="rId3"/>
          <a:srcRect/>
          <a:stretch/>
        </p:blipFill>
        <p:spPr>
          <a:xfrm>
            <a:off x="658368" y="2979389"/>
            <a:ext cx="3392424" cy="1905062"/>
          </a:xfrm>
          <a:prstGeom prst="rect">
            <a:avLst/>
          </a:prstGeom>
        </p:spPr>
      </p:pic>
      <p:sp>
        <p:nvSpPr>
          <p:cNvPr id="8" name="Shape 5"/>
          <p:cNvSpPr/>
          <p:nvPr/>
        </p:nvSpPr>
        <p:spPr>
          <a:xfrm>
            <a:off x="4343400" y="2057400"/>
            <a:ext cx="3611880" cy="3566160"/>
          </a:xfrm>
          <a:prstGeom prst="roundRect">
            <a:avLst>
              <a:gd name="adj" fmla="val 1538"/>
            </a:avLst>
          </a:prstGeom>
          <a:solidFill>
            <a:srgbClr val="F4F6FB"/>
          </a:solidFill>
          <a:ln w="12700">
            <a:solidFill>
              <a:srgbClr val="E3E7F0"/>
            </a:solidFill>
            <a:prstDash val="solid"/>
          </a:ln>
        </p:spPr>
        <p:txBody>
          <a:bodyPr/>
          <a:lstStyle/>
          <a:p>
            <a:endParaRPr lang="en-US"/>
          </a:p>
        </p:txBody>
      </p:sp>
      <p:sp>
        <p:nvSpPr>
          <p:cNvPr id="9" name="Text 6"/>
          <p:cNvSpPr/>
          <p:nvPr/>
        </p:nvSpPr>
        <p:spPr>
          <a:xfrm>
            <a:off x="4480560" y="2167128"/>
            <a:ext cx="3337560" cy="274320"/>
          </a:xfrm>
          <a:prstGeom prst="rect">
            <a:avLst/>
          </a:prstGeom>
          <a:noFill/>
          <a:ln/>
        </p:spPr>
        <p:txBody>
          <a:bodyPr wrap="square" rtlCol="0" anchor="ctr"/>
          <a:lstStyle/>
          <a:p>
            <a:pPr marL="0" indent="0">
              <a:buNone/>
            </a:pPr>
            <a:r>
              <a:rPr lang="en-US" sz="1050" b="1" kern="0" spc="100" dirty="0">
                <a:solidFill>
                  <a:srgbClr val="1E2761"/>
                </a:solidFill>
                <a:latin typeface="Calibri" pitchFamily="34" charset="0"/>
                <a:ea typeface="Calibri" pitchFamily="34" charset="-122"/>
                <a:cs typeface="Calibri" pitchFamily="34" charset="-120"/>
              </a:rPr>
              <a:t>SPRINT 2</a:t>
            </a:r>
            <a:endParaRPr lang="en-US" sz="1050" dirty="0"/>
          </a:p>
        </p:txBody>
      </p:sp>
      <p:pic>
        <p:nvPicPr>
          <p:cNvPr id="10" name="Image 1" descr="images/sprint2.png"/>
          <p:cNvPicPr>
            <a:picLocks noChangeAspect="1"/>
          </p:cNvPicPr>
          <p:nvPr/>
        </p:nvPicPr>
        <p:blipFill>
          <a:blip r:embed="rId4"/>
          <a:srcRect/>
          <a:stretch/>
        </p:blipFill>
        <p:spPr>
          <a:xfrm>
            <a:off x="4453128" y="3076517"/>
            <a:ext cx="3392424" cy="1710805"/>
          </a:xfrm>
          <a:prstGeom prst="rect">
            <a:avLst/>
          </a:prstGeom>
        </p:spPr>
      </p:pic>
      <p:sp>
        <p:nvSpPr>
          <p:cNvPr id="11" name="Shape 7"/>
          <p:cNvSpPr/>
          <p:nvPr/>
        </p:nvSpPr>
        <p:spPr>
          <a:xfrm>
            <a:off x="8138160" y="2057400"/>
            <a:ext cx="3611880" cy="3566160"/>
          </a:xfrm>
          <a:prstGeom prst="roundRect">
            <a:avLst>
              <a:gd name="adj" fmla="val 1538"/>
            </a:avLst>
          </a:prstGeom>
          <a:solidFill>
            <a:srgbClr val="F4F6FB"/>
          </a:solidFill>
          <a:ln w="12700">
            <a:solidFill>
              <a:srgbClr val="E3E7F0"/>
            </a:solidFill>
            <a:prstDash val="solid"/>
          </a:ln>
        </p:spPr>
        <p:txBody>
          <a:bodyPr/>
          <a:lstStyle/>
          <a:p>
            <a:endParaRPr lang="en-US"/>
          </a:p>
        </p:txBody>
      </p:sp>
      <p:sp>
        <p:nvSpPr>
          <p:cNvPr id="12" name="Text 8"/>
          <p:cNvSpPr/>
          <p:nvPr/>
        </p:nvSpPr>
        <p:spPr>
          <a:xfrm>
            <a:off x="8275320" y="2167128"/>
            <a:ext cx="3337560" cy="274320"/>
          </a:xfrm>
          <a:prstGeom prst="rect">
            <a:avLst/>
          </a:prstGeom>
          <a:noFill/>
          <a:ln/>
        </p:spPr>
        <p:txBody>
          <a:bodyPr wrap="square" rtlCol="0" anchor="ctr"/>
          <a:lstStyle/>
          <a:p>
            <a:pPr marL="0" indent="0">
              <a:buNone/>
            </a:pPr>
            <a:r>
              <a:rPr lang="en-US" sz="1050" b="1" kern="0" spc="100" dirty="0">
                <a:solidFill>
                  <a:srgbClr val="1E2761"/>
                </a:solidFill>
                <a:latin typeface="Calibri" pitchFamily="34" charset="0"/>
                <a:ea typeface="Calibri" pitchFamily="34" charset="-122"/>
                <a:cs typeface="Calibri" pitchFamily="34" charset="-120"/>
              </a:rPr>
              <a:t>SPRINT 3</a:t>
            </a:r>
            <a:endParaRPr lang="en-US" sz="1050" dirty="0"/>
          </a:p>
        </p:txBody>
      </p:sp>
      <p:pic>
        <p:nvPicPr>
          <p:cNvPr id="13" name="Image 2" descr="images/sprint3.png"/>
          <p:cNvPicPr>
            <a:picLocks noChangeAspect="1"/>
          </p:cNvPicPr>
          <p:nvPr/>
        </p:nvPicPr>
        <p:blipFill>
          <a:blip r:embed="rId5"/>
          <a:srcRect/>
          <a:stretch/>
        </p:blipFill>
        <p:spPr>
          <a:xfrm>
            <a:off x="8247888" y="3038998"/>
            <a:ext cx="3392424" cy="1785845"/>
          </a:xfrm>
          <a:prstGeom prst="rect">
            <a:avLst/>
          </a:prstGeom>
        </p:spPr>
      </p:pic>
      <p:sp>
        <p:nvSpPr>
          <p:cNvPr id="14" name="Text 9"/>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15" name="Text 10"/>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11 · JIRA SCREENSHOTS</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Active Sprint Tracking</a:t>
            </a:r>
            <a:endParaRPr lang="en-US" sz="3000" dirty="0"/>
          </a:p>
        </p:txBody>
      </p:sp>
      <p:sp>
        <p:nvSpPr>
          <p:cNvPr id="4" name="Text 2"/>
          <p:cNvSpPr/>
          <p:nvPr/>
        </p:nvSpPr>
        <p:spPr>
          <a:xfrm>
            <a:off x="548640" y="1261872"/>
            <a:ext cx="11064240" cy="457200"/>
          </a:xfrm>
          <a:prstGeom prst="rect">
            <a:avLst/>
          </a:prstGeom>
          <a:noFill/>
          <a:ln/>
        </p:spPr>
        <p:txBody>
          <a:bodyPr wrap="square" rtlCol="0" anchor="ctr"/>
          <a:lstStyle/>
          <a:p>
            <a:pPr marL="0" indent="0">
              <a:buNone/>
            </a:pPr>
            <a:r>
              <a:rPr lang="en-US" sz="1350" i="1" dirty="0">
                <a:solidFill>
                  <a:srgbClr val="6B7280"/>
                </a:solidFill>
                <a:latin typeface="Calibri" pitchFamily="34" charset="0"/>
                <a:ea typeface="Calibri" pitchFamily="34" charset="-122"/>
                <a:cs typeface="Calibri" pitchFamily="34" charset="-120"/>
              </a:rPr>
              <a:t>To Do → In Progress → In Review → Done</a:t>
            </a:r>
            <a:endParaRPr lang="en-US" sz="1350" dirty="0"/>
          </a:p>
        </p:txBody>
      </p:sp>
      <p:sp>
        <p:nvSpPr>
          <p:cNvPr id="5" name="Shape 3"/>
          <p:cNvSpPr/>
          <p:nvPr/>
        </p:nvSpPr>
        <p:spPr>
          <a:xfrm>
            <a:off x="1276960" y="1947672"/>
            <a:ext cx="9637776" cy="4581315"/>
          </a:xfrm>
          <a:prstGeom prst="roundRect">
            <a:avLst>
              <a:gd name="adj" fmla="val 1198"/>
            </a:avLst>
          </a:prstGeom>
          <a:solidFill>
            <a:srgbClr val="F4F6FB"/>
          </a:solidFill>
          <a:ln w="12700">
            <a:solidFill>
              <a:srgbClr val="E3E7F0"/>
            </a:solidFill>
            <a:prstDash val="solid"/>
          </a:ln>
        </p:spPr>
        <p:txBody>
          <a:bodyPr/>
          <a:lstStyle/>
          <a:p>
            <a:endParaRPr lang="en-US"/>
          </a:p>
        </p:txBody>
      </p:sp>
      <p:pic>
        <p:nvPicPr>
          <p:cNvPr id="6" name="Image 0" descr="images/active_sprint.jpeg"/>
          <p:cNvPicPr>
            <a:picLocks noChangeAspect="1"/>
          </p:cNvPicPr>
          <p:nvPr/>
        </p:nvPicPr>
        <p:blipFill>
          <a:blip r:embed="rId3"/>
          <a:srcRect/>
          <a:stretch/>
        </p:blipFill>
        <p:spPr>
          <a:xfrm>
            <a:off x="1386688" y="2057400"/>
            <a:ext cx="9418320" cy="4361859"/>
          </a:xfrm>
          <a:prstGeom prst="rect">
            <a:avLst/>
          </a:prstGeom>
        </p:spPr>
      </p:pic>
      <p:sp>
        <p:nvSpPr>
          <p:cNvPr id="7" name="Text 4"/>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8" name="Text 5"/>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02.11 · RISK MANAGEMENT</a:t>
            </a:r>
            <a:endParaRPr lang="en-US" sz="1200" dirty="0"/>
          </a:p>
        </p:txBody>
      </p:sp>
      <p:sp>
        <p:nvSpPr>
          <p:cNvPr id="3" name="Text 1"/>
          <p:cNvSpPr/>
          <p:nvPr/>
        </p:nvSpPr>
        <p:spPr>
          <a:xfrm>
            <a:off x="548640" y="658368"/>
            <a:ext cx="11064240" cy="685800"/>
          </a:xfrm>
          <a:prstGeom prst="rect">
            <a:avLst/>
          </a:prstGeom>
          <a:noFill/>
          <a:ln/>
        </p:spPr>
        <p:txBody>
          <a:bodyPr wrap="square" rtlCol="0" anchor="ctr"/>
          <a:lstStyle/>
          <a:p>
            <a:pPr marL="0" indent="0">
              <a:buNone/>
            </a:pPr>
            <a:r>
              <a:rPr lang="en-US" sz="3000" b="1" dirty="0">
                <a:solidFill>
                  <a:srgbClr val="1E2761"/>
                </a:solidFill>
                <a:latin typeface="Cambria" pitchFamily="34" charset="0"/>
                <a:ea typeface="Cambria" pitchFamily="34" charset="-122"/>
                <a:cs typeface="Cambria" pitchFamily="34" charset="-120"/>
              </a:rPr>
              <a:t>Risks We're Watching, and How We Manage Them</a:t>
            </a:r>
            <a:endParaRPr lang="en-US" sz="3000" dirty="0"/>
          </a:p>
        </p:txBody>
      </p:sp>
      <p:sp>
        <p:nvSpPr>
          <p:cNvPr id="4" name="Shape 2"/>
          <p:cNvSpPr/>
          <p:nvPr/>
        </p:nvSpPr>
        <p:spPr>
          <a:xfrm>
            <a:off x="548640" y="196596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a:p>
        </p:txBody>
      </p:sp>
      <p:sp>
        <p:nvSpPr>
          <p:cNvPr id="5" name="Shape 3"/>
          <p:cNvSpPr/>
          <p:nvPr/>
        </p:nvSpPr>
        <p:spPr>
          <a:xfrm>
            <a:off x="749808" y="2167128"/>
            <a:ext cx="365760" cy="365760"/>
          </a:xfrm>
          <a:prstGeom prst="ellipse">
            <a:avLst/>
          </a:prstGeom>
          <a:solidFill>
            <a:srgbClr val="FBEFEF"/>
          </a:solidFill>
          <a:ln/>
        </p:spPr>
        <p:txBody>
          <a:bodyPr/>
          <a:lstStyle/>
          <a:p>
            <a:endParaRPr lang="en-US"/>
          </a:p>
        </p:txBody>
      </p:sp>
      <p:sp>
        <p:nvSpPr>
          <p:cNvPr id="6" name="Text 4"/>
          <p:cNvSpPr/>
          <p:nvPr/>
        </p:nvSpPr>
        <p:spPr>
          <a:xfrm>
            <a:off x="749808" y="216712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7" name="Text 5"/>
          <p:cNvSpPr/>
          <p:nvPr/>
        </p:nvSpPr>
        <p:spPr>
          <a:xfrm>
            <a:off x="1261872" y="211226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Employees forget to order before 11am</a:t>
            </a:r>
            <a:endParaRPr lang="en-US" sz="1600" dirty="0"/>
          </a:p>
        </p:txBody>
      </p:sp>
      <p:sp>
        <p:nvSpPr>
          <p:cNvPr id="8" name="Text 6"/>
          <p:cNvSpPr/>
          <p:nvPr/>
        </p:nvSpPr>
        <p:spPr>
          <a:xfrm>
            <a:off x="1261872" y="258775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9" name="Text 7"/>
          <p:cNvSpPr/>
          <p:nvPr/>
        </p:nvSpPr>
        <p:spPr>
          <a:xfrm>
            <a:off x="1261872" y="277063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Reminder notifications ahead of the deadline</a:t>
            </a:r>
            <a:endParaRPr lang="en-US" sz="1400" dirty="0"/>
          </a:p>
        </p:txBody>
      </p:sp>
      <p:sp>
        <p:nvSpPr>
          <p:cNvPr id="10" name="Shape 8"/>
          <p:cNvSpPr/>
          <p:nvPr/>
        </p:nvSpPr>
        <p:spPr>
          <a:xfrm>
            <a:off x="6172200" y="196596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a:p>
        </p:txBody>
      </p:sp>
      <p:sp>
        <p:nvSpPr>
          <p:cNvPr id="11" name="Shape 9"/>
          <p:cNvSpPr/>
          <p:nvPr/>
        </p:nvSpPr>
        <p:spPr>
          <a:xfrm>
            <a:off x="6373368" y="2167128"/>
            <a:ext cx="365760" cy="365760"/>
          </a:xfrm>
          <a:prstGeom prst="ellipse">
            <a:avLst/>
          </a:prstGeom>
          <a:solidFill>
            <a:srgbClr val="FBEFEF"/>
          </a:solidFill>
          <a:ln/>
        </p:spPr>
        <p:txBody>
          <a:bodyPr/>
          <a:lstStyle/>
          <a:p>
            <a:endParaRPr lang="en-US"/>
          </a:p>
        </p:txBody>
      </p:sp>
      <p:sp>
        <p:nvSpPr>
          <p:cNvPr id="12" name="Text 10"/>
          <p:cNvSpPr/>
          <p:nvPr/>
        </p:nvSpPr>
        <p:spPr>
          <a:xfrm>
            <a:off x="6373368" y="216712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13" name="Text 11"/>
          <p:cNvSpPr/>
          <p:nvPr/>
        </p:nvSpPr>
        <p:spPr>
          <a:xfrm>
            <a:off x="6885432" y="211226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Menu not updated on time</a:t>
            </a:r>
            <a:endParaRPr lang="en-US" sz="1600" dirty="0"/>
          </a:p>
        </p:txBody>
      </p:sp>
      <p:sp>
        <p:nvSpPr>
          <p:cNvPr id="14" name="Text 12"/>
          <p:cNvSpPr/>
          <p:nvPr/>
        </p:nvSpPr>
        <p:spPr>
          <a:xfrm>
            <a:off x="6885432" y="258775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15" name="Text 13"/>
          <p:cNvSpPr/>
          <p:nvPr/>
        </p:nvSpPr>
        <p:spPr>
          <a:xfrm>
            <a:off x="6885432" y="277063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Clear ownership assigned to the Menu Manager</a:t>
            </a:r>
            <a:endParaRPr lang="en-US" sz="1400" dirty="0"/>
          </a:p>
        </p:txBody>
      </p:sp>
      <p:sp>
        <p:nvSpPr>
          <p:cNvPr id="16" name="Shape 14"/>
          <p:cNvSpPr/>
          <p:nvPr/>
        </p:nvSpPr>
        <p:spPr>
          <a:xfrm>
            <a:off x="548640" y="347472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dirty="0"/>
          </a:p>
        </p:txBody>
      </p:sp>
      <p:sp>
        <p:nvSpPr>
          <p:cNvPr id="17" name="Shape 15"/>
          <p:cNvSpPr/>
          <p:nvPr/>
        </p:nvSpPr>
        <p:spPr>
          <a:xfrm>
            <a:off x="749808" y="3675888"/>
            <a:ext cx="365760" cy="365760"/>
          </a:xfrm>
          <a:prstGeom prst="ellipse">
            <a:avLst/>
          </a:prstGeom>
          <a:solidFill>
            <a:srgbClr val="FBEFEF"/>
          </a:solidFill>
          <a:ln/>
        </p:spPr>
        <p:txBody>
          <a:bodyPr/>
          <a:lstStyle/>
          <a:p>
            <a:endParaRPr lang="en-US"/>
          </a:p>
        </p:txBody>
      </p:sp>
      <p:sp>
        <p:nvSpPr>
          <p:cNvPr id="18" name="Text 16"/>
          <p:cNvSpPr/>
          <p:nvPr/>
        </p:nvSpPr>
        <p:spPr>
          <a:xfrm>
            <a:off x="749808" y="367588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19" name="Text 17"/>
          <p:cNvSpPr/>
          <p:nvPr/>
        </p:nvSpPr>
        <p:spPr>
          <a:xfrm>
            <a:off x="1261872" y="362102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Employees resist the new system</a:t>
            </a:r>
            <a:endParaRPr lang="en-US" sz="1600" dirty="0"/>
          </a:p>
        </p:txBody>
      </p:sp>
      <p:sp>
        <p:nvSpPr>
          <p:cNvPr id="20" name="Text 18"/>
          <p:cNvSpPr/>
          <p:nvPr/>
        </p:nvSpPr>
        <p:spPr>
          <a:xfrm>
            <a:off x="1261872" y="409651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21" name="Text 19"/>
          <p:cNvSpPr/>
          <p:nvPr/>
        </p:nvSpPr>
        <p:spPr>
          <a:xfrm>
            <a:off x="1261872" y="427939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Communication, user guides and training</a:t>
            </a:r>
            <a:endParaRPr lang="en-US" sz="1400" dirty="0"/>
          </a:p>
        </p:txBody>
      </p:sp>
      <p:sp>
        <p:nvSpPr>
          <p:cNvPr id="22" name="Shape 20"/>
          <p:cNvSpPr/>
          <p:nvPr/>
        </p:nvSpPr>
        <p:spPr>
          <a:xfrm>
            <a:off x="6172200" y="347472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a:p>
        </p:txBody>
      </p:sp>
      <p:sp>
        <p:nvSpPr>
          <p:cNvPr id="23" name="Shape 21"/>
          <p:cNvSpPr/>
          <p:nvPr/>
        </p:nvSpPr>
        <p:spPr>
          <a:xfrm>
            <a:off x="6373368" y="3675888"/>
            <a:ext cx="365760" cy="365760"/>
          </a:xfrm>
          <a:prstGeom prst="ellipse">
            <a:avLst/>
          </a:prstGeom>
          <a:solidFill>
            <a:srgbClr val="FBEFEF"/>
          </a:solidFill>
          <a:ln/>
        </p:spPr>
        <p:txBody>
          <a:bodyPr/>
          <a:lstStyle/>
          <a:p>
            <a:endParaRPr lang="en-US"/>
          </a:p>
        </p:txBody>
      </p:sp>
      <p:sp>
        <p:nvSpPr>
          <p:cNvPr id="24" name="Text 22"/>
          <p:cNvSpPr/>
          <p:nvPr/>
        </p:nvSpPr>
        <p:spPr>
          <a:xfrm>
            <a:off x="6373368" y="367588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25" name="Text 23"/>
          <p:cNvSpPr/>
          <p:nvPr/>
        </p:nvSpPr>
        <p:spPr>
          <a:xfrm>
            <a:off x="6885432" y="362102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Delivery is delayed</a:t>
            </a:r>
            <a:endParaRPr lang="en-US" sz="1600" dirty="0"/>
          </a:p>
        </p:txBody>
      </p:sp>
      <p:sp>
        <p:nvSpPr>
          <p:cNvPr id="26" name="Text 24"/>
          <p:cNvSpPr/>
          <p:nvPr/>
        </p:nvSpPr>
        <p:spPr>
          <a:xfrm>
            <a:off x="6885432" y="409651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27" name="Text 25"/>
          <p:cNvSpPr/>
          <p:nvPr/>
        </p:nvSpPr>
        <p:spPr>
          <a:xfrm>
            <a:off x="6885432" y="427939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Clear delivery schedule and proper staff assignment</a:t>
            </a:r>
            <a:endParaRPr lang="en-US" sz="1400" dirty="0"/>
          </a:p>
        </p:txBody>
      </p:sp>
      <p:sp>
        <p:nvSpPr>
          <p:cNvPr id="28" name="Shape 26"/>
          <p:cNvSpPr/>
          <p:nvPr/>
        </p:nvSpPr>
        <p:spPr>
          <a:xfrm>
            <a:off x="548640" y="498348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a:p>
        </p:txBody>
      </p:sp>
      <p:sp>
        <p:nvSpPr>
          <p:cNvPr id="29" name="Shape 27"/>
          <p:cNvSpPr/>
          <p:nvPr/>
        </p:nvSpPr>
        <p:spPr>
          <a:xfrm>
            <a:off x="749808" y="5184648"/>
            <a:ext cx="365760" cy="365760"/>
          </a:xfrm>
          <a:prstGeom prst="ellipse">
            <a:avLst/>
          </a:prstGeom>
          <a:solidFill>
            <a:srgbClr val="FBEFEF"/>
          </a:solidFill>
          <a:ln/>
        </p:spPr>
        <p:txBody>
          <a:bodyPr/>
          <a:lstStyle/>
          <a:p>
            <a:endParaRPr lang="en-US"/>
          </a:p>
        </p:txBody>
      </p:sp>
      <p:sp>
        <p:nvSpPr>
          <p:cNvPr id="30" name="Text 28"/>
          <p:cNvSpPr/>
          <p:nvPr/>
        </p:nvSpPr>
        <p:spPr>
          <a:xfrm>
            <a:off x="749808" y="518464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31" name="Text 29"/>
          <p:cNvSpPr/>
          <p:nvPr/>
        </p:nvSpPr>
        <p:spPr>
          <a:xfrm>
            <a:off x="1261872" y="512978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Payroll deduction errors</a:t>
            </a:r>
            <a:endParaRPr lang="en-US" sz="1600" dirty="0"/>
          </a:p>
        </p:txBody>
      </p:sp>
      <p:sp>
        <p:nvSpPr>
          <p:cNvPr id="32" name="Text 30"/>
          <p:cNvSpPr/>
          <p:nvPr/>
        </p:nvSpPr>
        <p:spPr>
          <a:xfrm>
            <a:off x="1261872" y="560527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33" name="Text 31"/>
          <p:cNvSpPr/>
          <p:nvPr/>
        </p:nvSpPr>
        <p:spPr>
          <a:xfrm>
            <a:off x="1261872" y="578815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Monthly reports with payroll review before deduction</a:t>
            </a:r>
            <a:endParaRPr lang="en-US" sz="1400" dirty="0"/>
          </a:p>
        </p:txBody>
      </p:sp>
      <p:sp>
        <p:nvSpPr>
          <p:cNvPr id="34" name="Shape 32"/>
          <p:cNvSpPr/>
          <p:nvPr/>
        </p:nvSpPr>
        <p:spPr>
          <a:xfrm>
            <a:off x="6172200" y="4983480"/>
            <a:ext cx="5468112" cy="1353312"/>
          </a:xfrm>
          <a:prstGeom prst="roundRect">
            <a:avLst>
              <a:gd name="adj" fmla="val 4730"/>
            </a:avLst>
          </a:prstGeom>
          <a:solidFill>
            <a:srgbClr val="F4F6FB"/>
          </a:solidFill>
          <a:ln w="12700">
            <a:solidFill>
              <a:srgbClr val="E3E7F0"/>
            </a:solidFill>
            <a:prstDash val="solid"/>
          </a:ln>
        </p:spPr>
        <p:txBody>
          <a:bodyPr/>
          <a:lstStyle/>
          <a:p>
            <a:endParaRPr lang="en-US" sz="1600"/>
          </a:p>
        </p:txBody>
      </p:sp>
      <p:sp>
        <p:nvSpPr>
          <p:cNvPr id="35" name="Shape 33"/>
          <p:cNvSpPr/>
          <p:nvPr/>
        </p:nvSpPr>
        <p:spPr>
          <a:xfrm>
            <a:off x="6373368" y="5184648"/>
            <a:ext cx="365760" cy="365760"/>
          </a:xfrm>
          <a:prstGeom prst="ellipse">
            <a:avLst/>
          </a:prstGeom>
          <a:solidFill>
            <a:srgbClr val="FBEFEF"/>
          </a:solidFill>
          <a:ln/>
        </p:spPr>
        <p:txBody>
          <a:bodyPr/>
          <a:lstStyle/>
          <a:p>
            <a:endParaRPr lang="en-US"/>
          </a:p>
        </p:txBody>
      </p:sp>
      <p:sp>
        <p:nvSpPr>
          <p:cNvPr id="36" name="Text 34"/>
          <p:cNvSpPr/>
          <p:nvPr/>
        </p:nvSpPr>
        <p:spPr>
          <a:xfrm>
            <a:off x="6373368" y="5184648"/>
            <a:ext cx="365760" cy="365760"/>
          </a:xfrm>
          <a:prstGeom prst="rect">
            <a:avLst/>
          </a:prstGeom>
          <a:noFill/>
          <a:ln/>
        </p:spPr>
        <p:txBody>
          <a:bodyPr wrap="square" rtlCol="0" anchor="ctr"/>
          <a:lstStyle/>
          <a:p>
            <a:pPr marL="0" indent="0" algn="ctr">
              <a:buNone/>
            </a:pPr>
            <a:r>
              <a:rPr lang="en-US" sz="1600" b="1" dirty="0">
                <a:solidFill>
                  <a:srgbClr val="B3261E"/>
                </a:solidFill>
                <a:latin typeface="Cambria" pitchFamily="34" charset="0"/>
                <a:ea typeface="Cambria" pitchFamily="34" charset="-122"/>
                <a:cs typeface="Cambria" pitchFamily="34" charset="-120"/>
              </a:rPr>
              <a:t>!</a:t>
            </a:r>
            <a:endParaRPr lang="en-US" sz="1600" dirty="0"/>
          </a:p>
        </p:txBody>
      </p:sp>
      <p:sp>
        <p:nvSpPr>
          <p:cNvPr id="37" name="Text 35"/>
          <p:cNvSpPr/>
          <p:nvPr/>
        </p:nvSpPr>
        <p:spPr>
          <a:xfrm>
            <a:off x="6885432" y="5129784"/>
            <a:ext cx="4553712" cy="502920"/>
          </a:xfrm>
          <a:prstGeom prst="rect">
            <a:avLst/>
          </a:prstGeom>
          <a:noFill/>
          <a:ln/>
        </p:spPr>
        <p:txBody>
          <a:bodyPr wrap="square" rtlCol="0" anchor="t"/>
          <a:lstStyle/>
          <a:p>
            <a:pPr marL="0" indent="0">
              <a:buNone/>
            </a:pPr>
            <a:r>
              <a:rPr lang="en-US" sz="1600" b="1" dirty="0">
                <a:solidFill>
                  <a:srgbClr val="24272E"/>
                </a:solidFill>
                <a:latin typeface="Calibri" pitchFamily="34" charset="0"/>
                <a:ea typeface="Calibri" pitchFamily="34" charset="-122"/>
                <a:cs typeface="Calibri" pitchFamily="34" charset="-120"/>
              </a:rPr>
              <a:t>System downtime affects ordering</a:t>
            </a:r>
            <a:endParaRPr lang="en-US" sz="1600" dirty="0"/>
          </a:p>
        </p:txBody>
      </p:sp>
      <p:sp>
        <p:nvSpPr>
          <p:cNvPr id="38" name="Text 36"/>
          <p:cNvSpPr/>
          <p:nvPr/>
        </p:nvSpPr>
        <p:spPr>
          <a:xfrm>
            <a:off x="6885432" y="5605272"/>
            <a:ext cx="4553712" cy="201168"/>
          </a:xfrm>
          <a:prstGeom prst="rect">
            <a:avLst/>
          </a:prstGeom>
          <a:noFill/>
          <a:ln/>
        </p:spPr>
        <p:txBody>
          <a:bodyPr wrap="square" rtlCol="0" anchor="ctr"/>
          <a:lstStyle/>
          <a:p>
            <a:pPr marL="0" indent="0">
              <a:buNone/>
            </a:pPr>
            <a:r>
              <a:rPr lang="en-US" sz="1400" b="1" kern="0" spc="100" dirty="0">
                <a:solidFill>
                  <a:srgbClr val="2E7D32"/>
                </a:solidFill>
                <a:latin typeface="Calibri" pitchFamily="34" charset="0"/>
                <a:ea typeface="Calibri" pitchFamily="34" charset="-122"/>
                <a:cs typeface="Calibri" pitchFamily="34" charset="-120"/>
              </a:rPr>
              <a:t>MITIGATION</a:t>
            </a:r>
            <a:endParaRPr lang="en-US" sz="1400" dirty="0"/>
          </a:p>
        </p:txBody>
      </p:sp>
      <p:sp>
        <p:nvSpPr>
          <p:cNvPr id="39" name="Text 37"/>
          <p:cNvSpPr/>
          <p:nvPr/>
        </p:nvSpPr>
        <p:spPr>
          <a:xfrm>
            <a:off x="6885432" y="5788152"/>
            <a:ext cx="4553712" cy="502920"/>
          </a:xfrm>
          <a:prstGeom prst="rect">
            <a:avLst/>
          </a:prstGeom>
          <a:noFill/>
          <a:ln/>
        </p:spPr>
        <p:txBody>
          <a:bodyPr wrap="square" rtlCol="0" anchor="t"/>
          <a:lstStyle/>
          <a:p>
            <a:pPr marL="0" indent="0">
              <a:buNone/>
            </a:pPr>
            <a:r>
              <a:rPr lang="en-US" sz="1400" dirty="0">
                <a:solidFill>
                  <a:srgbClr val="6B7280"/>
                </a:solidFill>
                <a:latin typeface="Calibri" pitchFamily="34" charset="0"/>
                <a:ea typeface="Calibri" pitchFamily="34" charset="-122"/>
                <a:cs typeface="Calibri" pitchFamily="34" charset="-120"/>
              </a:rPr>
              <a:t>IT support in place plus a backup process</a:t>
            </a:r>
            <a:endParaRPr lang="en-US" sz="1400" dirty="0"/>
          </a:p>
        </p:txBody>
      </p:sp>
      <p:sp>
        <p:nvSpPr>
          <p:cNvPr id="40" name="Text 38"/>
          <p:cNvSpPr/>
          <p:nvPr/>
        </p:nvSpPr>
        <p:spPr>
          <a:xfrm>
            <a:off x="457200" y="6528816"/>
            <a:ext cx="5486400" cy="274320"/>
          </a:xfrm>
          <a:prstGeom prst="rect">
            <a:avLst/>
          </a:prstGeom>
          <a:noFill/>
          <a:ln/>
        </p:spPr>
        <p:txBody>
          <a:bodyPr wrap="square" rtlCol="0" anchor="ctr"/>
          <a:lstStyle/>
          <a:p>
            <a:pPr marL="0" indent="0">
              <a:buNone/>
            </a:pPr>
            <a:r>
              <a:rPr lang="en-US" sz="900" kern="0" spc="100" dirty="0">
                <a:solidFill>
                  <a:srgbClr val="6B7280"/>
                </a:solidFill>
                <a:latin typeface="Calibri" pitchFamily="34" charset="0"/>
                <a:ea typeface="Calibri" pitchFamily="34" charset="-122"/>
                <a:cs typeface="Calibri" pitchFamily="34" charset="-120"/>
              </a:rPr>
              <a:t>CANTEEN ORDERING SYSTEM · PROJECT POLARIS</a:t>
            </a:r>
            <a:endParaRPr lang="en-US" sz="900" dirty="0"/>
          </a:p>
        </p:txBody>
      </p:sp>
      <p:sp>
        <p:nvSpPr>
          <p:cNvPr id="41" name="Text 39"/>
          <p:cNvSpPr/>
          <p:nvPr/>
        </p:nvSpPr>
        <p:spPr>
          <a:xfrm>
            <a:off x="11277295" y="6528816"/>
            <a:ext cx="457200" cy="274320"/>
          </a:xfrm>
          <a:prstGeom prst="rect">
            <a:avLst/>
          </a:prstGeom>
          <a:noFill/>
          <a:ln/>
        </p:spPr>
        <p:txBody>
          <a:bodyPr wrap="square"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16</a:t>
            </a:r>
            <a:endParaRPr lang="en-US" sz="900" dirty="0"/>
          </a:p>
        </p:txBody>
      </p:sp>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2286000" y="3474720"/>
            <a:ext cx="5943600" cy="5943600"/>
          </a:xfrm>
          <a:prstGeom prst="ellipse">
            <a:avLst/>
          </a:prstGeom>
          <a:solidFill>
            <a:srgbClr val="141B47">
              <a:alpha val="55000"/>
            </a:srgbClr>
          </a:solidFill>
          <a:ln/>
        </p:spPr>
        <p:txBody>
          <a:bodyPr/>
          <a:lstStyle/>
          <a:p>
            <a:endParaRPr lang="en-US" sz="1400"/>
          </a:p>
        </p:txBody>
      </p:sp>
      <p:sp>
        <p:nvSpPr>
          <p:cNvPr id="3" name="Text 1"/>
          <p:cNvSpPr/>
          <p:nvPr/>
        </p:nvSpPr>
        <p:spPr>
          <a:xfrm>
            <a:off x="548640" y="502920"/>
            <a:ext cx="8229600" cy="320040"/>
          </a:xfrm>
          <a:prstGeom prst="rect">
            <a:avLst/>
          </a:prstGeom>
          <a:noFill/>
          <a:ln/>
        </p:spPr>
        <p:txBody>
          <a:bodyPr wrap="square" rtlCol="0" anchor="ctr"/>
          <a:lstStyle/>
          <a:p>
            <a:pPr marL="0" indent="0">
              <a:buNone/>
            </a:pPr>
            <a:r>
              <a:rPr lang="en-US" sz="1200" b="1" kern="0" spc="150" dirty="0">
                <a:solidFill>
                  <a:srgbClr val="E8A33D"/>
                </a:solidFill>
                <a:latin typeface="Calibri" pitchFamily="34" charset="0"/>
                <a:ea typeface="Calibri" pitchFamily="34" charset="-122"/>
                <a:cs typeface="Calibri" pitchFamily="34" charset="-120"/>
              </a:rPr>
              <a:t>12 · FINAL PROJECT CONCLUSION</a:t>
            </a:r>
            <a:endParaRPr lang="en-US" sz="1200" dirty="0"/>
          </a:p>
        </p:txBody>
      </p:sp>
      <p:sp>
        <p:nvSpPr>
          <p:cNvPr id="4" name="Text 2"/>
          <p:cNvSpPr/>
          <p:nvPr/>
        </p:nvSpPr>
        <p:spPr>
          <a:xfrm>
            <a:off x="548640" y="822960"/>
            <a:ext cx="10972800" cy="82296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Recommended for Approval and Implementation</a:t>
            </a:r>
            <a:endParaRPr lang="en-US" sz="3000" dirty="0"/>
          </a:p>
        </p:txBody>
      </p:sp>
      <p:sp>
        <p:nvSpPr>
          <p:cNvPr id="5" name="Text 3"/>
          <p:cNvSpPr/>
          <p:nvPr/>
        </p:nvSpPr>
        <p:spPr>
          <a:xfrm>
            <a:off x="548640" y="1783080"/>
            <a:ext cx="6492240" cy="1920240"/>
          </a:xfrm>
          <a:prstGeom prst="rect">
            <a:avLst/>
          </a:prstGeom>
          <a:noFill/>
          <a:ln/>
        </p:spPr>
        <p:txBody>
          <a:bodyPr wrap="square" rtlCol="0" anchor="t"/>
          <a:lstStyle/>
          <a:p>
            <a:pPr marL="0" indent="0">
              <a:lnSpc>
                <a:spcPct val="135000"/>
              </a:lnSpc>
              <a:buNone/>
            </a:pPr>
            <a:r>
              <a:rPr lang="en-US" sz="1400" dirty="0">
                <a:solidFill>
                  <a:srgbClr val="CADCFC"/>
                </a:solidFill>
                <a:latin typeface="Calibri" pitchFamily="34" charset="0"/>
                <a:ea typeface="Calibri" pitchFamily="34" charset="-122"/>
                <a:cs typeface="Calibri" pitchFamily="34" charset="-120"/>
              </a:rPr>
              <a:t>The Canteen Ordering System solves Unilever UK's lunch-hour challenges — reducing congestion, improving employee experience, supporting better meal planning, and cutting food wastage. Employees will order online before 11am and receive lunch at their workstation, while the canteen team gains accurate, confirmed demand to plan against.</a:t>
            </a:r>
            <a:endParaRPr lang="en-US" sz="1400" dirty="0"/>
          </a:p>
        </p:txBody>
      </p:sp>
      <p:sp>
        <p:nvSpPr>
          <p:cNvPr id="6" name="Text 4"/>
          <p:cNvSpPr/>
          <p:nvPr/>
        </p:nvSpPr>
        <p:spPr>
          <a:xfrm>
            <a:off x="548640" y="3840480"/>
            <a:ext cx="6492240" cy="1280160"/>
          </a:xfrm>
          <a:prstGeom prst="rect">
            <a:avLst/>
          </a:prstGeom>
          <a:noFill/>
          <a:ln/>
        </p:spPr>
        <p:txBody>
          <a:bodyPr wrap="square" rtlCol="0" anchor="t"/>
          <a:lstStyle/>
          <a:p>
            <a:pPr marL="0" indent="0">
              <a:lnSpc>
                <a:spcPct val="130000"/>
              </a:lnSpc>
              <a:buNone/>
            </a:pPr>
            <a:r>
              <a:rPr lang="en-US" sz="1400" b="1" dirty="0">
                <a:solidFill>
                  <a:srgbClr val="FFFFFF"/>
                </a:solidFill>
                <a:latin typeface="Calibri" pitchFamily="34" charset="0"/>
                <a:ea typeface="Calibri" pitchFamily="34" charset="-122"/>
                <a:cs typeface="Calibri" pitchFamily="34" charset="-120"/>
              </a:rPr>
              <a:t>Based on the business problem, stakeholder impact, functional requirements, process improvement, and financial analysis, the project is recommended for implementation.</a:t>
            </a:r>
            <a:endParaRPr lang="en-US" sz="1400" dirty="0"/>
          </a:p>
        </p:txBody>
      </p:sp>
      <p:sp>
        <p:nvSpPr>
          <p:cNvPr id="7" name="Shape 5"/>
          <p:cNvSpPr/>
          <p:nvPr/>
        </p:nvSpPr>
        <p:spPr>
          <a:xfrm>
            <a:off x="7589520" y="1828800"/>
            <a:ext cx="4069080" cy="914400"/>
          </a:xfrm>
          <a:prstGeom prst="roundRect">
            <a:avLst>
              <a:gd name="adj" fmla="val 8000"/>
            </a:avLst>
          </a:prstGeom>
          <a:solidFill>
            <a:srgbClr val="141B47"/>
          </a:solidFill>
          <a:ln w="12700">
            <a:solidFill>
              <a:srgbClr val="34407A"/>
            </a:solidFill>
            <a:prstDash val="solid"/>
          </a:ln>
        </p:spPr>
        <p:txBody>
          <a:bodyPr/>
          <a:lstStyle/>
          <a:p>
            <a:endParaRPr lang="en-US"/>
          </a:p>
        </p:txBody>
      </p:sp>
      <p:sp>
        <p:nvSpPr>
          <p:cNvPr id="8" name="Text 6"/>
          <p:cNvSpPr/>
          <p:nvPr/>
        </p:nvSpPr>
        <p:spPr>
          <a:xfrm>
            <a:off x="7818120" y="1828800"/>
            <a:ext cx="2011680" cy="914400"/>
          </a:xfrm>
          <a:prstGeom prst="rect">
            <a:avLst/>
          </a:prstGeom>
          <a:noFill/>
          <a:ln/>
        </p:spPr>
        <p:txBody>
          <a:bodyPr wrap="square" rtlCol="0" anchor="ctr"/>
          <a:lstStyle/>
          <a:p>
            <a:pPr marL="0" indent="0">
              <a:buNone/>
            </a:pPr>
            <a:r>
              <a:rPr lang="en-US" sz="2200" b="1" dirty="0">
                <a:solidFill>
                  <a:srgbClr val="E8A33D"/>
                </a:solidFill>
                <a:latin typeface="Cambria" pitchFamily="34" charset="0"/>
                <a:ea typeface="Cambria" pitchFamily="34" charset="-122"/>
                <a:cs typeface="Cambria" pitchFamily="34" charset="-120"/>
              </a:rPr>
              <a:t>£140,000</a:t>
            </a:r>
            <a:endParaRPr lang="en-US" sz="2200" dirty="0"/>
          </a:p>
        </p:txBody>
      </p:sp>
      <p:sp>
        <p:nvSpPr>
          <p:cNvPr id="9" name="Text 7"/>
          <p:cNvSpPr/>
          <p:nvPr/>
        </p:nvSpPr>
        <p:spPr>
          <a:xfrm>
            <a:off x="9738360" y="1828800"/>
            <a:ext cx="1783080" cy="9144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Project Cost</a:t>
            </a:r>
            <a:endParaRPr lang="en-US" sz="1400" dirty="0"/>
          </a:p>
        </p:txBody>
      </p:sp>
      <p:sp>
        <p:nvSpPr>
          <p:cNvPr id="10" name="Shape 8"/>
          <p:cNvSpPr/>
          <p:nvPr/>
        </p:nvSpPr>
        <p:spPr>
          <a:xfrm>
            <a:off x="7589520" y="2907792"/>
            <a:ext cx="4069080" cy="914400"/>
          </a:xfrm>
          <a:prstGeom prst="roundRect">
            <a:avLst>
              <a:gd name="adj" fmla="val 8000"/>
            </a:avLst>
          </a:prstGeom>
          <a:solidFill>
            <a:srgbClr val="141B47"/>
          </a:solidFill>
          <a:ln w="12700">
            <a:solidFill>
              <a:srgbClr val="34407A"/>
            </a:solidFill>
            <a:prstDash val="solid"/>
          </a:ln>
        </p:spPr>
        <p:txBody>
          <a:bodyPr/>
          <a:lstStyle/>
          <a:p>
            <a:endParaRPr lang="en-US"/>
          </a:p>
        </p:txBody>
      </p:sp>
      <p:sp>
        <p:nvSpPr>
          <p:cNvPr id="11" name="Text 9"/>
          <p:cNvSpPr/>
          <p:nvPr/>
        </p:nvSpPr>
        <p:spPr>
          <a:xfrm>
            <a:off x="7818120" y="2907792"/>
            <a:ext cx="2011680" cy="914400"/>
          </a:xfrm>
          <a:prstGeom prst="rect">
            <a:avLst/>
          </a:prstGeom>
          <a:noFill/>
          <a:ln/>
        </p:spPr>
        <p:txBody>
          <a:bodyPr wrap="square" rtlCol="0" anchor="ctr"/>
          <a:lstStyle/>
          <a:p>
            <a:pPr marL="0" indent="0">
              <a:buNone/>
            </a:pPr>
            <a:r>
              <a:rPr lang="en-US" sz="2200" b="1" dirty="0">
                <a:solidFill>
                  <a:srgbClr val="E8A33D"/>
                </a:solidFill>
                <a:latin typeface="Cambria" pitchFamily="34" charset="0"/>
                <a:ea typeface="Cambria" pitchFamily="34" charset="-122"/>
                <a:cs typeface="Cambria" pitchFamily="34" charset="-120"/>
              </a:rPr>
              <a:t>£1,680,000</a:t>
            </a:r>
            <a:endParaRPr lang="en-US" sz="2200" dirty="0"/>
          </a:p>
        </p:txBody>
      </p:sp>
      <p:sp>
        <p:nvSpPr>
          <p:cNvPr id="12" name="Text 10"/>
          <p:cNvSpPr/>
          <p:nvPr/>
        </p:nvSpPr>
        <p:spPr>
          <a:xfrm>
            <a:off x="9738360" y="2907792"/>
            <a:ext cx="1783080" cy="9144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Annual Benefit</a:t>
            </a:r>
            <a:endParaRPr lang="en-US" sz="1400" dirty="0"/>
          </a:p>
        </p:txBody>
      </p:sp>
      <p:sp>
        <p:nvSpPr>
          <p:cNvPr id="13" name="Shape 11"/>
          <p:cNvSpPr/>
          <p:nvPr/>
        </p:nvSpPr>
        <p:spPr>
          <a:xfrm>
            <a:off x="7589520" y="3986784"/>
            <a:ext cx="4069080" cy="914400"/>
          </a:xfrm>
          <a:prstGeom prst="roundRect">
            <a:avLst>
              <a:gd name="adj" fmla="val 8000"/>
            </a:avLst>
          </a:prstGeom>
          <a:solidFill>
            <a:srgbClr val="141B47"/>
          </a:solidFill>
          <a:ln w="12700">
            <a:solidFill>
              <a:srgbClr val="34407A"/>
            </a:solidFill>
            <a:prstDash val="solid"/>
          </a:ln>
        </p:spPr>
        <p:txBody>
          <a:bodyPr/>
          <a:lstStyle/>
          <a:p>
            <a:endParaRPr lang="en-US"/>
          </a:p>
        </p:txBody>
      </p:sp>
      <p:sp>
        <p:nvSpPr>
          <p:cNvPr id="14" name="Text 12"/>
          <p:cNvSpPr/>
          <p:nvPr/>
        </p:nvSpPr>
        <p:spPr>
          <a:xfrm>
            <a:off x="7818120" y="3986784"/>
            <a:ext cx="2011680" cy="914400"/>
          </a:xfrm>
          <a:prstGeom prst="rect">
            <a:avLst/>
          </a:prstGeom>
          <a:noFill/>
          <a:ln/>
        </p:spPr>
        <p:txBody>
          <a:bodyPr wrap="square" rtlCol="0" anchor="ctr"/>
          <a:lstStyle/>
          <a:p>
            <a:pPr marL="0" indent="0">
              <a:buNone/>
            </a:pPr>
            <a:r>
              <a:rPr lang="en-US" sz="2200" b="1" dirty="0">
                <a:solidFill>
                  <a:srgbClr val="E8A33D"/>
                </a:solidFill>
                <a:latin typeface="Cambria" pitchFamily="34" charset="0"/>
                <a:ea typeface="Cambria" pitchFamily="34" charset="-122"/>
                <a:cs typeface="Cambria" pitchFamily="34" charset="-120"/>
              </a:rPr>
              <a:t>~1 month</a:t>
            </a:r>
            <a:endParaRPr lang="en-US" sz="2200" dirty="0"/>
          </a:p>
        </p:txBody>
      </p:sp>
      <p:sp>
        <p:nvSpPr>
          <p:cNvPr id="15" name="Text 13"/>
          <p:cNvSpPr/>
          <p:nvPr/>
        </p:nvSpPr>
        <p:spPr>
          <a:xfrm>
            <a:off x="9738360" y="3986784"/>
            <a:ext cx="1783080" cy="9144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Payback Period</a:t>
            </a:r>
            <a:endParaRPr lang="en-US" sz="1400" dirty="0"/>
          </a:p>
        </p:txBody>
      </p:sp>
      <p:sp>
        <p:nvSpPr>
          <p:cNvPr id="16" name="Shape 14"/>
          <p:cNvSpPr/>
          <p:nvPr/>
        </p:nvSpPr>
        <p:spPr>
          <a:xfrm>
            <a:off x="7589520" y="5065776"/>
            <a:ext cx="4069080" cy="914400"/>
          </a:xfrm>
          <a:prstGeom prst="roundRect">
            <a:avLst>
              <a:gd name="adj" fmla="val 8000"/>
            </a:avLst>
          </a:prstGeom>
          <a:solidFill>
            <a:srgbClr val="141B47"/>
          </a:solidFill>
          <a:ln w="12700">
            <a:solidFill>
              <a:srgbClr val="34407A"/>
            </a:solidFill>
            <a:prstDash val="solid"/>
          </a:ln>
        </p:spPr>
        <p:txBody>
          <a:bodyPr/>
          <a:lstStyle/>
          <a:p>
            <a:endParaRPr lang="en-US"/>
          </a:p>
        </p:txBody>
      </p:sp>
      <p:sp>
        <p:nvSpPr>
          <p:cNvPr id="17" name="Text 15"/>
          <p:cNvSpPr/>
          <p:nvPr/>
        </p:nvSpPr>
        <p:spPr>
          <a:xfrm>
            <a:off x="7818120" y="5065776"/>
            <a:ext cx="2011680" cy="914400"/>
          </a:xfrm>
          <a:prstGeom prst="rect">
            <a:avLst/>
          </a:prstGeom>
          <a:noFill/>
          <a:ln/>
        </p:spPr>
        <p:txBody>
          <a:bodyPr wrap="square" rtlCol="0" anchor="ctr"/>
          <a:lstStyle/>
          <a:p>
            <a:pPr marL="0" indent="0">
              <a:buNone/>
            </a:pPr>
            <a:r>
              <a:rPr lang="en-US" sz="2200" b="1" dirty="0">
                <a:solidFill>
                  <a:srgbClr val="E8A33D"/>
                </a:solidFill>
                <a:latin typeface="Cambria" pitchFamily="34" charset="0"/>
                <a:ea typeface="Cambria" pitchFamily="34" charset="-122"/>
                <a:cs typeface="Cambria" pitchFamily="34" charset="-120"/>
              </a:rPr>
              <a:t>1,100%</a:t>
            </a:r>
            <a:endParaRPr lang="en-US" sz="2200" dirty="0"/>
          </a:p>
        </p:txBody>
      </p:sp>
      <p:sp>
        <p:nvSpPr>
          <p:cNvPr id="18" name="Text 16"/>
          <p:cNvSpPr/>
          <p:nvPr/>
        </p:nvSpPr>
        <p:spPr>
          <a:xfrm>
            <a:off x="9738360" y="5065776"/>
            <a:ext cx="1783080" cy="914400"/>
          </a:xfrm>
          <a:prstGeom prst="rect">
            <a:avLst/>
          </a:prstGeom>
          <a:noFill/>
          <a:ln/>
        </p:spPr>
        <p:txBody>
          <a:bodyPr wrap="square" rtlCol="0" anchor="ctr"/>
          <a:lstStyle/>
          <a:p>
            <a:pPr marL="0" indent="0">
              <a:buNone/>
            </a:pPr>
            <a:r>
              <a:rPr lang="en-US" sz="1400" dirty="0">
                <a:solidFill>
                  <a:srgbClr val="CADCFC"/>
                </a:solidFill>
                <a:latin typeface="Calibri" pitchFamily="34" charset="0"/>
                <a:ea typeface="Calibri" pitchFamily="34" charset="-122"/>
                <a:cs typeface="Calibri" pitchFamily="34" charset="-120"/>
              </a:rPr>
              <a:t>ROI</a:t>
            </a:r>
            <a:endParaRPr lang="en-US" sz="1400" dirty="0"/>
          </a:p>
        </p:txBody>
      </p:sp>
      <p:sp>
        <p:nvSpPr>
          <p:cNvPr id="19" name="Text 17"/>
          <p:cNvSpPr/>
          <p:nvPr/>
        </p:nvSpPr>
        <p:spPr>
          <a:xfrm>
            <a:off x="548640" y="6446520"/>
            <a:ext cx="9144000" cy="274320"/>
          </a:xfrm>
          <a:prstGeom prst="rect">
            <a:avLst/>
          </a:prstGeom>
          <a:noFill/>
          <a:ln/>
        </p:spPr>
        <p:txBody>
          <a:bodyPr wrap="square" rtlCol="0" anchor="ctr"/>
          <a:lstStyle/>
          <a:p>
            <a:pPr marL="0" indent="0">
              <a:buNone/>
            </a:pPr>
            <a:r>
              <a:rPr lang="en-US" sz="1000" kern="0" spc="100" dirty="0">
                <a:solidFill>
                  <a:srgbClr val="8892C2"/>
                </a:solidFill>
                <a:latin typeface="Calibri" pitchFamily="34" charset="0"/>
                <a:ea typeface="Calibri" pitchFamily="34" charset="-122"/>
                <a:cs typeface="Calibri" pitchFamily="34" charset="-120"/>
              </a:rPr>
              <a:t>PREPARED BY POD POLARIS  ·  BUSINESS ANALYSIS CAPSTONE PROJECT</a:t>
            </a:r>
            <a:endParaRPr lang="en-US" sz="1000" dirty="0"/>
          </a:p>
        </p:txBody>
      </p:sp>
    </p:spTree>
  </p:cSld>
  <p:clrMapOvr>
    <a:masterClrMapping/>
  </p:clrMapOvr>
  <p:transition spd="slow">
    <p:push dir="u"/>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1970</Words>
  <Application>Microsoft Office PowerPoint</Application>
  <PresentationFormat>Widescreen</PresentationFormat>
  <Paragraphs>411</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Onyinyechi Ikea</cp:lastModifiedBy>
  <cp:revision>6</cp:revision>
  <dcterms:created xsi:type="dcterms:W3CDTF">2026-07-17T22:58:23Z</dcterms:created>
  <dcterms:modified xsi:type="dcterms:W3CDTF">2026-10-21T18:34:49Z</dcterms:modified>
</cp:coreProperties>
</file>